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603abea3ec4404" /><Relationship Type="http://schemas.openxmlformats.org/officeDocument/2006/relationships/extended-properties" Target="/docProps/app.xml" Id="R1ac0e2993661456f" /><Relationship Type="http://schemas.openxmlformats.org/officeDocument/2006/relationships/officeDocument" Target="/ppt/presentation.xml" Id="Rcbf716a5a47a41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be3b98675a48d3"/>
  </p:sldMasterIdLst>
  <p:notesMasterIdLst>
    <p:notesMasterId xmlns:r="http://schemas.openxmlformats.org/officeDocument/2006/relationships" r:id="R69e831de9f134b0d"/>
  </p:notesMasterIdLst>
  <p:sldIdLst>
    <p:sldId xmlns:r="http://schemas.openxmlformats.org/officeDocument/2006/relationships" id="256" r:id="R8ebf03a8c29042d3"/>
    <p:sldId xmlns:r="http://schemas.openxmlformats.org/officeDocument/2006/relationships" id="257" r:id="R72922fa64d4c4aa8"/>
    <p:sldId xmlns:r="http://schemas.openxmlformats.org/officeDocument/2006/relationships" id="258" r:id="Rd4362299cb734133"/>
    <p:sldId xmlns:r="http://schemas.openxmlformats.org/officeDocument/2006/relationships" id="259" r:id="Rea23151a1d3949c1"/>
    <p:sldId xmlns:r="http://schemas.openxmlformats.org/officeDocument/2006/relationships" id="260" r:id="R15003849e0944624"/>
    <p:sldId xmlns:r="http://schemas.openxmlformats.org/officeDocument/2006/relationships" id="261" r:id="R946a2d071899465e"/>
    <p:sldId xmlns:r="http://schemas.openxmlformats.org/officeDocument/2006/relationships" id="262" r:id="R69d0e4b7efee415d"/>
    <p:sldId xmlns:r="http://schemas.openxmlformats.org/officeDocument/2006/relationships" id="263" r:id="R5e8a31a1b644447c"/>
    <p:sldId xmlns:r="http://schemas.openxmlformats.org/officeDocument/2006/relationships" id="264" r:id="R3f370e0764a64648"/>
    <p:sldId xmlns:r="http://schemas.openxmlformats.org/officeDocument/2006/relationships" id="265" r:id="R00148ea5a7c14650"/>
    <p:sldId xmlns:r="http://schemas.openxmlformats.org/officeDocument/2006/relationships" id="266" r:id="Rf23af170fcac48f4"/>
    <p:sldId xmlns:r="http://schemas.openxmlformats.org/officeDocument/2006/relationships" id="267" r:id="Rc688c72039be4790"/>
    <p:sldId xmlns:r="http://schemas.openxmlformats.org/officeDocument/2006/relationships" id="268" r:id="Rb83725fab22845b4"/>
    <p:sldId xmlns:r="http://schemas.openxmlformats.org/officeDocument/2006/relationships" id="269" r:id="R33db6fde0e1a4301"/>
    <p:sldId xmlns:r="http://schemas.openxmlformats.org/officeDocument/2006/relationships" id="270" r:id="R848049174ab747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c5df3ee4b4c88" /><Relationship Type="http://schemas.openxmlformats.org/officeDocument/2006/relationships/slideMaster" Target="/ppt/slideMasters/slideMaster1.xml" Id="R30be3b98675a48d3" /><Relationship Type="http://schemas.openxmlformats.org/officeDocument/2006/relationships/notesMaster" Target="/ppt/notesMasters/notesMaster1.xml" Id="R69e831de9f134b0d" /><Relationship Type="http://schemas.openxmlformats.org/officeDocument/2006/relationships/presProps" Target="/ppt/presProps.xml" Id="R22bb4be1d30a4488" /><Relationship Type="http://schemas.openxmlformats.org/officeDocument/2006/relationships/tableStyles" Target="/ppt/tableStyles.xml" Id="R69a833c7d7b94e21" /><Relationship Type="http://schemas.openxmlformats.org/officeDocument/2006/relationships/slide" Target="/ppt/slides/slide1.xml" Id="R8ebf03a8c29042d3" /><Relationship Type="http://schemas.openxmlformats.org/officeDocument/2006/relationships/slide" Target="/ppt/slides/slide2.xml" Id="R72922fa64d4c4aa8" /><Relationship Type="http://schemas.openxmlformats.org/officeDocument/2006/relationships/slide" Target="/ppt/slides/slide3.xml" Id="Rd4362299cb734133" /><Relationship Type="http://schemas.openxmlformats.org/officeDocument/2006/relationships/slide" Target="/ppt/slides/slide4.xml" Id="Rea23151a1d3949c1" /><Relationship Type="http://schemas.openxmlformats.org/officeDocument/2006/relationships/slide" Target="/ppt/slides/slide5.xml" Id="R15003849e0944624" /><Relationship Type="http://schemas.openxmlformats.org/officeDocument/2006/relationships/slide" Target="/ppt/slides/slide6.xml" Id="R946a2d071899465e" /><Relationship Type="http://schemas.openxmlformats.org/officeDocument/2006/relationships/slide" Target="/ppt/slides/slide7.xml" Id="R69d0e4b7efee415d" /><Relationship Type="http://schemas.openxmlformats.org/officeDocument/2006/relationships/slide" Target="/ppt/slides/slide8.xml" Id="R5e8a31a1b644447c" /><Relationship Type="http://schemas.openxmlformats.org/officeDocument/2006/relationships/slide" Target="/ppt/slides/slide9.xml" Id="R3f370e0764a64648" /><Relationship Type="http://schemas.openxmlformats.org/officeDocument/2006/relationships/slide" Target="/ppt/slides/slide10.xml" Id="R00148ea5a7c14650" /><Relationship Type="http://schemas.openxmlformats.org/officeDocument/2006/relationships/slide" Target="/ppt/slides/slide11.xml" Id="Rf23af170fcac48f4" /><Relationship Type="http://schemas.openxmlformats.org/officeDocument/2006/relationships/slide" Target="/ppt/slides/slide12.xml" Id="Rc688c72039be4790" /><Relationship Type="http://schemas.openxmlformats.org/officeDocument/2006/relationships/slide" Target="/ppt/slides/slide13.xml" Id="Rb83725fab22845b4" /><Relationship Type="http://schemas.openxmlformats.org/officeDocument/2006/relationships/slide" Target="/ppt/slides/slide14.xml" Id="R33db6fde0e1a4301" /><Relationship Type="http://schemas.openxmlformats.org/officeDocument/2006/relationships/slide" Target="/ppt/slides/slide15.xml" Id="R848049174ab7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8f6af49aa4e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fb459dfa04736" /><Relationship Type="http://schemas.openxmlformats.org/officeDocument/2006/relationships/notesMaster" Target="/ppt/notesMasters/notesMaster1.xml" Id="R87a5320960794c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32f1c4e8a149ba" /><Relationship Type="http://schemas.openxmlformats.org/officeDocument/2006/relationships/notesMaster" Target="/ppt/notesMasters/notesMaster1.xml" Id="R400076dc64dc48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a18b30629461d" /><Relationship Type="http://schemas.openxmlformats.org/officeDocument/2006/relationships/notesMaster" Target="/ppt/notesMasters/notesMaster1.xml" Id="R4dc60eedf6ae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d454919003492d" /><Relationship Type="http://schemas.openxmlformats.org/officeDocument/2006/relationships/notesMaster" Target="/ppt/notesMasters/notesMaster1.xml" Id="Re2bc23f31dc54f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c1c68ce48f4b63" /><Relationship Type="http://schemas.openxmlformats.org/officeDocument/2006/relationships/notesMaster" Target="/ppt/notesMasters/notesMaster1.xml" Id="R29e8964e30f245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117980af6249a8" /><Relationship Type="http://schemas.openxmlformats.org/officeDocument/2006/relationships/notesMaster" Target="/ppt/notesMasters/notesMaster1.xml" Id="Ree17bdb8a9f4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5ec349dde34554" /><Relationship Type="http://schemas.openxmlformats.org/officeDocument/2006/relationships/notesMaster" Target="/ppt/notesMasters/notesMaster1.xml" Id="R7c96a92c58a2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23442a5464bed" /><Relationship Type="http://schemas.openxmlformats.org/officeDocument/2006/relationships/notesMaster" Target="/ppt/notesMasters/notesMaster1.xml" Id="R0a3016d6fadc41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897fb8c7a24099" /><Relationship Type="http://schemas.openxmlformats.org/officeDocument/2006/relationships/notesMaster" Target="/ppt/notesMasters/notesMaster1.xml" Id="R9cbbec0f42b349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7997560a254f0c" /><Relationship Type="http://schemas.openxmlformats.org/officeDocument/2006/relationships/notesMaster" Target="/ppt/notesMasters/notesMaster1.xml" Id="Rec5d298771fb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87974476714f4b" /><Relationship Type="http://schemas.openxmlformats.org/officeDocument/2006/relationships/notesMaster" Target="/ppt/notesMasters/notesMaster1.xml" Id="Ra02cd816f04241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48d70388841d9" /><Relationship Type="http://schemas.openxmlformats.org/officeDocument/2006/relationships/notesMaster" Target="/ppt/notesMasters/notesMaster1.xml" Id="R5be9ac0792d04f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0506b62b8344ac" /><Relationship Type="http://schemas.openxmlformats.org/officeDocument/2006/relationships/notesMaster" Target="/ppt/notesMasters/notesMaster1.xml" Id="R68c828b52dab44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f7828f6b1e4282" /><Relationship Type="http://schemas.openxmlformats.org/officeDocument/2006/relationships/notesMaster" Target="/ppt/notesMasters/notesMaster1.xml" Id="Rab519778e4374b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190a4f62974fee" /><Relationship Type="http://schemas.openxmlformats.org/officeDocument/2006/relationships/notesMaster" Target="/ppt/notesMasters/notesMaster1.xml" Id="R0d8925b85a85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ae03b9017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18af687694046" /><Relationship Type="http://schemas.openxmlformats.org/officeDocument/2006/relationships/slideLayout" Target="/ppt/slideLayouts/slideLayout1.xml" Id="Rff51365b649044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1365b649044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c5463a3044739" /><Relationship Type="http://schemas.openxmlformats.org/officeDocument/2006/relationships/notesSlide" Target="/ppt/notesSlides/notesSlide1.xml" Id="R97821d4cdb8a44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0d591ec3548b7" /><Relationship Type="http://schemas.openxmlformats.org/officeDocument/2006/relationships/notesSlide" Target="/ppt/notesSlides/notesSlide2.xml" Id="R7f2355abc56348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c1be8fb3949ae" /><Relationship Type="http://schemas.openxmlformats.org/officeDocument/2006/relationships/image" Target="/ppt/media/image.png" Id="R8edd0b009ac947fc" /><Relationship Type="http://schemas.openxmlformats.org/officeDocument/2006/relationships/notesSlide" Target="/ppt/notesSlides/notesSlide3.xml" Id="Rb163d77749044f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a7695d64f4c89" /><Relationship Type="http://schemas.openxmlformats.org/officeDocument/2006/relationships/notesSlide" Target="/ppt/notesSlides/notesSlide4.xml" Id="R0186820918be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419fbf4334ea6" /><Relationship Type="http://schemas.openxmlformats.org/officeDocument/2006/relationships/notesSlide" Target="/ppt/notesSlides/notesSlide5.xml" Id="Ree8a230f340e45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868a978514490" /><Relationship Type="http://schemas.openxmlformats.org/officeDocument/2006/relationships/notesSlide" Target="/ppt/notesSlides/notesSlide6.xml" Id="Rda804f6d8628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e11f9a1be4c77" /><Relationship Type="http://schemas.openxmlformats.org/officeDocument/2006/relationships/notesSlide" Target="/ppt/notesSlides/notesSlide7.xml" Id="R3b4c83fc6e7040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e9b717e1b4565" /><Relationship Type="http://schemas.openxmlformats.org/officeDocument/2006/relationships/notesSlide" Target="/ppt/notesSlides/notesSlide8.xml" Id="R64dd3be789db4c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0857658a24a89" /><Relationship Type="http://schemas.openxmlformats.org/officeDocument/2006/relationships/notesSlide" Target="/ppt/notesSlides/notesSlide9.xml" Id="Rc2a06fdf314546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ae5f27dfb4b90" /><Relationship Type="http://schemas.openxmlformats.org/officeDocument/2006/relationships/notesSlide" Target="/ppt/notesSlides/notesSlide10.xml" Id="Rd0474ca4223f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3e5d7ee5d427e" /><Relationship Type="http://schemas.openxmlformats.org/officeDocument/2006/relationships/notesSlide" Target="/ppt/notesSlides/notesSlide11.xml" Id="R1acfb0f38f034d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defe305364716" /><Relationship Type="http://schemas.openxmlformats.org/officeDocument/2006/relationships/notesSlide" Target="/ppt/notesSlides/notesSlide12.xml" Id="Re3e52f68a37d49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3c0552ac8448e" /><Relationship Type="http://schemas.openxmlformats.org/officeDocument/2006/relationships/notesSlide" Target="/ppt/notesSlides/notesSlide13.xml" Id="Rf1bb56ad65da4d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533b9d4424dea" /><Relationship Type="http://schemas.openxmlformats.org/officeDocument/2006/relationships/notesSlide" Target="/ppt/notesSlides/notesSlide14.xml" Id="R9ecd9efc30bd4c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cd5ccc6494a62" /><Relationship Type="http://schemas.openxmlformats.org/officeDocument/2006/relationships/notesSlide" Target="/ppt/notesSlides/notesSlide15.xml" Id="R27a16e3e1b6647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3DC35-51E9-4732-B411-8A2579A9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BEEDC-BB53-4189-910B-3B84D2FE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Clase 1 · 90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551FC-FE94-4012-A35E-643B22F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Campo eléctrico: de la interacción al modelo físico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21D32-320B-4C72-85A0-565A883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08425-12C1-44CA-BDA0-0A5B594B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8220"/>
                </a:solidFill>
              </a:defRPr>
            </a:pPr>
            <a:r>
              <a:rPr sz="2400" b="1">
                <a:solidFill>
                  <a:srgbClr val="F58220"/>
                </a:solidFill>
              </a:rPr>
              <a:t>¿Por qué un globo frotado atrae pequeños trozos de papel?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527A0-E5A3-4FC2-BE2B-1042865A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25466"/>
                </a:solidFill>
              </a:defRPr>
            </a:pPr>
            <a:r>
              <a:rPr sz="1725" b="0">
                <a:solidFill>
                  <a:srgbClr val="425466"/>
                </a:solidFill>
              </a:rPr>
              <a:t>Hoy construiremos una explicación, una fórmula y un método para resolver problemas.</a:t>
            </a:r>
          </a:p>
        </p:txBody>
      </p:sp>
    </p:spTree>
    <p:extLst>
      <p:ext uri="{BB962C8B-B14F-4D97-AF65-F5344CB8AC3E}">
        <p14:creationId xmlns:p14="http://schemas.microsoft.com/office/powerpoint/2010/main" val="715969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13C6F-63F1-4E5F-A4C4-B3CDF89E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26AA-5398-4050-B83D-4413919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EC803-02CB-45EF-8DF6-80E55FC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21.1 Carga eléctrica: una propiedad que produce interacciones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50847-5955-44B7-B40F-E83B509E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F1811-7354-4A46-AEEC-AEF47915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3B70"/>
                </a:solidFill>
              </a:defRPr>
            </a:pPr>
            <a:r>
              <a:rPr sz="1650" b="1">
                <a:solidFill>
                  <a:srgbClr val="003B70"/>
                </a:solidFill>
              </a:rPr>
              <a:t>La carga eléctrica es una propiedad física de la materia que permite que los cuerpos se atraigan o se repelan.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B72FC-AAA6-43C0-B07E-6926AE65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Un cuerpo es neutro cuando sus cargas positivas y negativas se equilibran.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74BE4-2826-4253-900E-0F454F66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Al frotar dos materiales, se transfieren electrones: uno queda con exceso y otro con déficit.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BBF35-915D-4091-87E5-0DE40736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Por eso aparecen dos tipos de carga: positiva (+) y negativa (−).</a:t>
            </a:r>
          </a:p>
        </p:txBody>
      </p:sp>
    </p:spTree>
    <p:extLst>
      <p:ext uri="{BB962C8B-B14F-4D97-AF65-F5344CB8AC3E}">
        <p14:creationId xmlns:p14="http://schemas.microsoft.com/office/powerpoint/2010/main" val="1774297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ED9B4-065A-416E-ACDC-17F51595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47E61-98F1-472E-B4A7-5BA2710C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2CB6B-4947-410E-B885-D7CD2672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21.1 Carga eléctrica: los experimentos muestran las reglas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2D2E-3B27-4013-94B3-48EE238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33382-0D2B-475C-8A5D-AC3CF380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5466"/>
                </a:solidFill>
              </a:defRPr>
            </a:pPr>
            <a:r>
              <a:rPr sz="1425" b="0">
                <a:solidFill>
                  <a:srgbClr val="425466"/>
                </a:solidFill>
              </a:rPr>
              <a:t>La imagen permite observar el resultado del frotamiento y relacionarlo con los signos de las cargas.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d0b009ac947fc"/>
          <a:stretch xmlns:a="http://schemas.openxmlformats.org/drawingml/2006/main"/>
        </p:blipFill>
        <p:spPr>
          <a:xfrm xmlns:a="http://schemas.openxmlformats.org/drawingml/2006/main">
            <a:off x="666750" y="2307862"/>
            <a:ext cx="6953250" cy="36234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DA0E-EE7E-49C6-AA02-5AFEB47A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a) Plástico + piel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Quedan negativas y se repelen.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64007-2C68-4025-B8A3-9FD47EEE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b) Vidrio + seda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Quedan positivas y se repelen.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8115C-60CA-458A-96A7-2B4D9C9F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c) Plástico (−) y vidrio (+)</a:t>
            </a:r>
          </a:p>
          <a:p xmlns:a="http://schemas.openxmlformats.org/drawingml/2006/main">
            <a:pPr>
              <a:defRPr sz="1425" b="1">
                <a:solidFill>
                  <a:srgbClr val="003B70"/>
                </a:solidFill>
              </a:defRPr>
            </a:pPr>
            <a:r>
              <a:rPr sz="1425" b="1">
                <a:solidFill>
                  <a:srgbClr val="003B70"/>
                </a:solidFill>
              </a:rPr>
              <a:t>Se atraen por tener cargas opuestas.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B2C56-C34D-4CCD-B946-23F4AE99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8220"/>
                </a:solidFill>
              </a:defRPr>
            </a:pPr>
            <a:r>
              <a:rPr sz="1350" b="1">
                <a:solidFill>
                  <a:srgbClr val="F58220"/>
                </a:solidFill>
              </a:rPr>
              <a:t>Regla: mismo signo se repele; signos opuestos se atraen.</a:t>
            </a:r>
          </a:p>
        </p:txBody>
      </p:sp>
    </p:spTree>
    <p:extLst>
      <p:ext uri="{BB962C8B-B14F-4D97-AF65-F5344CB8AC3E}">
        <p14:creationId xmlns:p14="http://schemas.microsoft.com/office/powerpoint/2010/main" val="100714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15435-A92E-45AE-95CC-3313482E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FD20C-8611-4A0E-89D6-3E56797A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018BE-54B0-431B-95AB-D21C292D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Conservación y cuantización de la carga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C276D-B2AC-461D-8419-66AE2C6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D274F-DD76-4BF9-9029-F9C0AE61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 carga total se conserva: no se crea ni se destruye, solo se transfiere.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E969-EB2E-4183-9BBF-2FCAFEA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 carga elemental es e = 1.60 × 10⁻¹⁹ 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CC70-7214-4514-9213-B1DD19D8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En el frotamiento se mueven electrones, no protones.</a:t>
            </a:r>
          </a:p>
        </p:txBody>
      </p:sp>
    </p:spTree>
    <p:extLst>
      <p:ext uri="{BB962C8B-B14F-4D97-AF65-F5344CB8AC3E}">
        <p14:creationId xmlns:p14="http://schemas.microsoft.com/office/powerpoint/2010/main" val="1923670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5BE70-60EA-48F7-8C27-6E83E5C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2E387-655D-450D-9710-D2C3441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E20FC-562D-4465-97E1-AC4D9F8C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Conductores, aislantes y polarización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E6337-20C7-4294-BB09-855DE04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DB71-52C8-4D76-9191-F14B0A6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En conductores, algunas cargas se desplazan con facilidad.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04B08-0B82-4339-AF6F-DE4A1F0C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En aislantes, las cargas quedan más localizadas.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ABAC4-66CD-4B4C-9AA3-0A8E6A79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Un objeto neutro puede ser atraído por polarización.</a:t>
            </a:r>
          </a:p>
        </p:txBody>
      </p:sp>
    </p:spTree>
    <p:extLst>
      <p:ext uri="{BB962C8B-B14F-4D97-AF65-F5344CB8AC3E}">
        <p14:creationId xmlns:p14="http://schemas.microsoft.com/office/powerpoint/2010/main" val="559510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E1BA0-6E02-4E99-A916-D3D699A7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1253E-ADA4-4003-A7F3-7F40373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6C62-59EC-4886-AF9A-E173DD62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Antes de usar fórmulas, decide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CFBFE-E7F2-45B4-B772-DEB0A4D0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54945-923D-4969-B280-B15AD14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Mismo signo: las fuerzas se alejan.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8C026-BF08-4DE9-8FFC-32744AE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Signos opuestos: las fuerzas se acercan.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90DA4-5D11-4D6E-877D-A51991B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Las fuerzas son iguales en magnitud y opuestas en sentido.</a:t>
            </a:r>
          </a:p>
        </p:txBody>
      </p:sp>
    </p:spTree>
    <p:extLst>
      <p:ext uri="{BB962C8B-B14F-4D97-AF65-F5344CB8AC3E}">
        <p14:creationId xmlns:p14="http://schemas.microsoft.com/office/powerpoint/2010/main" val="14826583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12AC5-0400-426F-9DEB-D5370461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2EE7E-C0BF-4F7E-BC00-CC90CD69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B3555-DE56-4783-96F1-BB74A3D6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Ley de Coulomb: cuánto vale la fuerza eléctrica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12957-3837-4368-A726-1A4B70A1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33CCB-65A5-4B3F-876C-FBFCB0D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8220"/>
                </a:solidFill>
              </a:defRPr>
            </a:pPr>
            <a:r>
              <a:rPr sz="3000" b="1">
                <a:solidFill>
                  <a:srgbClr val="F58220"/>
                </a:solidFill>
              </a:rPr>
              <a:t>F = k |q₁q₂| / r²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45C38-C8C8-454F-874E-5C9B5F4A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F en N; cargas en C; distancia en 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36CC0-445E-4480-85DD-8077AD3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k = 8.99 × 10⁹ N·m²/C².</a:t>
            </a:r>
          </a:p>
        </p:txBody>
      </p:sp>
    </p:spTree>
    <p:extLst>
      <p:ext uri="{BB962C8B-B14F-4D97-AF65-F5344CB8AC3E}">
        <p14:creationId xmlns:p14="http://schemas.microsoft.com/office/powerpoint/2010/main" val="1723534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F6777-E62C-40C9-B9D3-D8D53D6B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781B9-3B15-4BD6-BDDC-E0233472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5BCAB-8AD0-4B58-8A79-DF1976E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Un método que sirve para cada ejercicio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CCB9F-BB83-4271-AA25-0FCCE626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DB319-E4B1-49CB-BC2B-6FE96FC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1. Dibuja y predice la interacción.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E5E23-76DE-4429-A7A1-CA1596C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2. Escribe datos e incógnita; convierte al 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0370-6C43-4930-9036-2148589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3. Selecciona la ecuación y sustituye.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41B81-6900-4352-942B-729A7AAE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4. Revisa unidad, sentido y conclusión.</a:t>
            </a:r>
          </a:p>
        </p:txBody>
      </p:sp>
    </p:spTree>
    <p:extLst>
      <p:ext uri="{BB962C8B-B14F-4D97-AF65-F5344CB8AC3E}">
        <p14:creationId xmlns:p14="http://schemas.microsoft.com/office/powerpoint/2010/main" val="100174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CA8B4-8C14-4883-ACC9-C140DE8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91FE-D47B-4C34-B112-530ED48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676E0-8611-4B74-97C6-BB257CD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1: fuerza entre dos cargas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78959-2F0C-42E9-AB60-A40C8CA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9DBC4-4B2B-4D53-A00C-F54F1C4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Ejemplo 21.1: aplicar Ley de Coulomb.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32CFD-24B8-4E50-B58B-5B91E00E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Identifica q₁, q₂, r y predice la interacción.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3F201-04B4-4D78-B1D9-8720AA30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En pizarra: diagrama → SI → fórmula → cálculo → conclusión.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BB4DF-D510-4536-BA3F-19408DB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 solución completa está en la Guía Docente.</a:t>
            </a:r>
          </a:p>
        </p:txBody>
      </p:sp>
    </p:spTree>
    <p:extLst>
      <p:ext uri="{BB962C8B-B14F-4D97-AF65-F5344CB8AC3E}">
        <p14:creationId xmlns:p14="http://schemas.microsoft.com/office/powerpoint/2010/main" val="497657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9AF78-5C78-4692-8444-4461C82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4A6AB-7101-4FBC-A008-AD101BE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6046-24D8-402A-B3F0-D2DF8CB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2: los signos determinan el sentido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FAC90-0338-4066-984F-9E5580CE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FDD96-278B-4D12-A36F-AA2CEC6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q₁ = +2.0 μC; q₂ = −3.0 μC; r = 0.20 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80281-254F-418E-8407-2D5C886E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Primero: ¿atracción o repulsión? Dibuja ambas fuerzas.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7F928-52D8-4471-BA8F-F8C1F759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Resultado para comprobar: 1.35 N, interacción atractiva.</a:t>
            </a:r>
          </a:p>
        </p:txBody>
      </p:sp>
    </p:spTree>
    <p:extLst>
      <p:ext uri="{BB962C8B-B14F-4D97-AF65-F5344CB8AC3E}">
        <p14:creationId xmlns:p14="http://schemas.microsoft.com/office/powerpoint/2010/main" val="666331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B2C63-C591-4291-A79F-BD1D5BA1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5B4E0-12BB-44CF-8B44-905F6284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663CF-5740-4671-8CF0-65B7DF3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El campo eléctrico explica la acción a distancia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5F37E-65C2-4CFE-8DBD-D30EBAE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DF179-4FC5-42AF-9307-75DB854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Una carga fuente modifica el espacio a su alrededor.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F21E6-D947-4FDC-AC24-7891153A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 = F / q₀: campo es fuerza por unidad de carga de prueba.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822C9-FB8A-494B-BDFC-3A249566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El campo existe antes de colocar otra carga.</a:t>
            </a:r>
          </a:p>
        </p:txBody>
      </p:sp>
    </p:spTree>
    <p:extLst>
      <p:ext uri="{BB962C8B-B14F-4D97-AF65-F5344CB8AC3E}">
        <p14:creationId xmlns:p14="http://schemas.microsoft.com/office/powerpoint/2010/main" val="2066556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50992-B181-4163-A242-61F02612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4EE09-DC65-4A24-8016-1D0338B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1AC10-18BF-4513-B9B9-EAFC054E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Ejemplo para pizarra 3: campo de una carga puntual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947D4-5F08-4425-AC92-18EB3ED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F83B1-4351-4CF2-83F6-4715885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Ejemplo 21.5: distinguir carga fuente Q, punto P y carga de prueba.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98AE9-58D3-47ED-90FB-6EBFDEF5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 = k |Q| / r²; la unidad es N/C.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E93B4-D59E-4BB9-B8DC-E8800D31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Q positiva: E se aleja. Q negativa: E apunta hacia Q.</a:t>
            </a:r>
          </a:p>
        </p:txBody>
      </p:sp>
    </p:spTree>
    <p:extLst>
      <p:ext uri="{BB962C8B-B14F-4D97-AF65-F5344CB8AC3E}">
        <p14:creationId xmlns:p14="http://schemas.microsoft.com/office/powerpoint/2010/main" val="14748541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7A536-F206-40AA-BBDD-2CC19E8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3E95D-0F70-4B45-990D-F14418FC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89C1A-BDF0-431B-8A3E-E1924533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Líneas de campo eléctrico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25F6-40B1-4810-A4FF-1F52A626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DFBA-9C6C-4E02-83A2-76E8FA0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Salen de cargas positivas y terminan en negativas.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76183-4E51-473A-B708-61CDCA6C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 flecha indica dirección de 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F682E-BAC3-4748-A214-352E3FFD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Líneas más juntas indican campo más intenso.</a:t>
            </a:r>
          </a:p>
        </p:txBody>
      </p:sp>
    </p:spTree>
    <p:extLst>
      <p:ext uri="{BB962C8B-B14F-4D97-AF65-F5344CB8AC3E}">
        <p14:creationId xmlns:p14="http://schemas.microsoft.com/office/powerpoint/2010/main" val="6808499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AB78-93F0-45B1-974E-B5E688EB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D80D0-B2D1-4D64-B258-E099D7F1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3EADB-8BE6-4963-A6C4-871475B0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Resumen y verificación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E2C08-89F3-47A7-B614-9E3697F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78A9-F4C0-49C6-8A1A-07EA1E06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Las cargas producen interacciones eléctricas.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88F07-A82E-4605-88A1-3AAFB69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Coulomb calcula la fuerza entre cargas puntuales.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F6B3-CCF6-4D7B-9D87-08354730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El campo describe la influencia de una carga.</a:t>
            </a:r>
          </a:p>
        </p:txBody>
      </p:sp>
    </p:spTree>
    <p:extLst>
      <p:ext uri="{BB962C8B-B14F-4D97-AF65-F5344CB8AC3E}">
        <p14:creationId xmlns:p14="http://schemas.microsoft.com/office/powerpoint/2010/main" val="16825818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69631-7209-4FC8-9972-1BA60B4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solidFill>
              <a:srgbClr val="003B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3ED8-96BA-4458-9D81-766DDB2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3B70"/>
                </a:solidFill>
              </a:defRPr>
            </a:pPr>
            <a:r>
              <a:rPr sz="975" b="1">
                <a:solidFill>
                  <a:srgbClr val="003B70"/>
                </a:solidFill>
              </a:rPr>
              <a:t>Fundamentos de Física Eléctrica · Capítulo 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8CA9D-8FBB-4315-8A4A-CFF66AD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3B70"/>
                </a:solidFill>
              </a:defRPr>
            </a:pPr>
            <a:r>
              <a:rPr sz="2700" b="1">
                <a:solidFill>
                  <a:srgbClr val="003B70"/>
                </a:solidFill>
              </a:rPr>
              <a:t>Tarea: demostrar el procedimiento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0394-92EC-44D4-8AF7-FACDABC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0">
            <a:solidFill>
              <a:srgbClr val="F58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099AD-28D4-45E9-978D-BC802477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Conceptuales: P21.1, P21.2 y P21.3.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A8CB4-C73B-4027-979D-C300228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Ley de Coulomb: 21.6 y 21.12.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FE45C-4AD0-4DB0-AA0A-44A4030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Campo eléctrico: 21.25 y 21.30.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FDCBD-EBAB-4BA9-8C72-3E1D412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4D"/>
                </a:solidFill>
              </a:defRPr>
            </a:pPr>
            <a:r>
              <a:rPr sz="1650" b="0">
                <a:solidFill>
                  <a:srgbClr val="172B4D"/>
                </a:solidFill>
              </a:rPr>
              <a:t>•  Entregar diagrama, SI, procedimiento, unidad y conclusión.</a:t>
            </a:r>
          </a:p>
        </p:txBody>
      </p:sp>
    </p:spTree>
    <p:extLst>
      <p:ext uri="{BB962C8B-B14F-4D97-AF65-F5344CB8AC3E}">
        <p14:creationId xmlns:p14="http://schemas.microsoft.com/office/powerpoint/2010/main" val="1412492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2026-08-29T01:01:07.1530000Z</dcterms:created>
  <dcterms:modified xsi:type="dcterms:W3CDTF">2026-08-29T01:01:07.1530000Z</dcterms:modified>
</coreProperties>
</file>
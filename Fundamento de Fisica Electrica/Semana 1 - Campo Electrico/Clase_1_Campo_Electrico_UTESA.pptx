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930c69e027c4cc3" /><Relationship Type="http://schemas.openxmlformats.org/officeDocument/2006/relationships/extended-properties" Target="/docProps/app.xml" Id="R58218544a1df4dfc" /><Relationship Type="http://schemas.openxmlformats.org/officeDocument/2006/relationships/officeDocument" Target="/ppt/presentation.xml" Id="R2e0a1103cb43459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163a09899b74184"/>
  </p:sldMasterIdLst>
  <p:notesMasterIdLst>
    <p:notesMasterId xmlns:r="http://schemas.openxmlformats.org/officeDocument/2006/relationships" r:id="Rc6ff0673646344cb"/>
  </p:notesMasterIdLst>
  <p:sldIdLst>
    <p:sldId xmlns:r="http://schemas.openxmlformats.org/officeDocument/2006/relationships" id="256" r:id="Rb3d126f2d7454edc"/>
    <p:sldId xmlns:r="http://schemas.openxmlformats.org/officeDocument/2006/relationships" id="257" r:id="R290abe80971a4d87"/>
    <p:sldId xmlns:r="http://schemas.openxmlformats.org/officeDocument/2006/relationships" id="258" r:id="R0c100926f38c4951"/>
    <p:sldId xmlns:r="http://schemas.openxmlformats.org/officeDocument/2006/relationships" id="259" r:id="Reb137e1fcb0f4220"/>
    <p:sldId xmlns:r="http://schemas.openxmlformats.org/officeDocument/2006/relationships" id="260" r:id="Rf613861bdfe24276"/>
    <p:sldId xmlns:r="http://schemas.openxmlformats.org/officeDocument/2006/relationships" id="261" r:id="R53a7a926c28a4b6f"/>
    <p:sldId xmlns:r="http://schemas.openxmlformats.org/officeDocument/2006/relationships" id="262" r:id="Rf1867cfc730f465e"/>
    <p:sldId xmlns:r="http://schemas.openxmlformats.org/officeDocument/2006/relationships" id="263" r:id="Ra8512d91415f475e"/>
    <p:sldId xmlns:r="http://schemas.openxmlformats.org/officeDocument/2006/relationships" id="264" r:id="R76259f00867c415b"/>
    <p:sldId xmlns:r="http://schemas.openxmlformats.org/officeDocument/2006/relationships" id="265" r:id="R7172b24096ed4645"/>
    <p:sldId xmlns:r="http://schemas.openxmlformats.org/officeDocument/2006/relationships" id="266" r:id="Rfe0833302303467c"/>
    <p:sldId xmlns:r="http://schemas.openxmlformats.org/officeDocument/2006/relationships" id="267" r:id="R2b67e3221ea244c7"/>
    <p:sldId xmlns:r="http://schemas.openxmlformats.org/officeDocument/2006/relationships" id="268" r:id="R20514b0c6b2c4630"/>
    <p:sldId xmlns:r="http://schemas.openxmlformats.org/officeDocument/2006/relationships" id="269" r:id="R774d188e09284ed8"/>
    <p:sldId xmlns:r="http://schemas.openxmlformats.org/officeDocument/2006/relationships" id="270" r:id="R367bace8f0f2451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57b79873bf243a6" /><Relationship Type="http://schemas.openxmlformats.org/officeDocument/2006/relationships/slideMaster" Target="/ppt/slideMasters/slideMaster1.xml" Id="R6163a09899b74184" /><Relationship Type="http://schemas.openxmlformats.org/officeDocument/2006/relationships/notesMaster" Target="/ppt/notesMasters/notesMaster1.xml" Id="Rc6ff0673646344cb" /><Relationship Type="http://schemas.openxmlformats.org/officeDocument/2006/relationships/presProps" Target="/ppt/presProps.xml" Id="Rc22d2fb5cd304456" /><Relationship Type="http://schemas.openxmlformats.org/officeDocument/2006/relationships/tableStyles" Target="/ppt/tableStyles.xml" Id="R3f78ccdcfa9149a9" /><Relationship Type="http://schemas.openxmlformats.org/officeDocument/2006/relationships/slide" Target="/ppt/slides/slide1.xml" Id="Rb3d126f2d7454edc" /><Relationship Type="http://schemas.openxmlformats.org/officeDocument/2006/relationships/slide" Target="/ppt/slides/slide2.xml" Id="R290abe80971a4d87" /><Relationship Type="http://schemas.openxmlformats.org/officeDocument/2006/relationships/slide" Target="/ppt/slides/slide3.xml" Id="R0c100926f38c4951" /><Relationship Type="http://schemas.openxmlformats.org/officeDocument/2006/relationships/slide" Target="/ppt/slides/slide4.xml" Id="Reb137e1fcb0f4220" /><Relationship Type="http://schemas.openxmlformats.org/officeDocument/2006/relationships/slide" Target="/ppt/slides/slide5.xml" Id="Rf613861bdfe24276" /><Relationship Type="http://schemas.openxmlformats.org/officeDocument/2006/relationships/slide" Target="/ppt/slides/slide6.xml" Id="R53a7a926c28a4b6f" /><Relationship Type="http://schemas.openxmlformats.org/officeDocument/2006/relationships/slide" Target="/ppt/slides/slide7.xml" Id="Rf1867cfc730f465e" /><Relationship Type="http://schemas.openxmlformats.org/officeDocument/2006/relationships/slide" Target="/ppt/slides/slide8.xml" Id="Ra8512d91415f475e" /><Relationship Type="http://schemas.openxmlformats.org/officeDocument/2006/relationships/slide" Target="/ppt/slides/slide9.xml" Id="R76259f00867c415b" /><Relationship Type="http://schemas.openxmlformats.org/officeDocument/2006/relationships/slide" Target="/ppt/slides/slide10.xml" Id="R7172b24096ed4645" /><Relationship Type="http://schemas.openxmlformats.org/officeDocument/2006/relationships/slide" Target="/ppt/slides/slide11.xml" Id="Rfe0833302303467c" /><Relationship Type="http://schemas.openxmlformats.org/officeDocument/2006/relationships/slide" Target="/ppt/slides/slide12.xml" Id="R2b67e3221ea244c7" /><Relationship Type="http://schemas.openxmlformats.org/officeDocument/2006/relationships/slide" Target="/ppt/slides/slide13.xml" Id="R20514b0c6b2c4630" /><Relationship Type="http://schemas.openxmlformats.org/officeDocument/2006/relationships/slide" Target="/ppt/slides/slide14.xml" Id="R774d188e09284ed8" /><Relationship Type="http://schemas.openxmlformats.org/officeDocument/2006/relationships/slide" Target="/ppt/slides/slide15.xml" Id="R367bace8f0f2451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83a0052b612417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153A20"/>
      </a:dk1>
      <a:lt1>
        <a:srgbClr val="FFFFFF"/>
      </a:lt1>
      <a:dk2>
        <a:srgbClr val="003C20"/>
      </a:dk2>
      <a:lt2>
        <a:srgbClr val="E8E8E8"/>
      </a:lt2>
      <a:accent1>
        <a:srgbClr val="003C20"/>
      </a:accent1>
      <a:accent2>
        <a:srgbClr val="FFC900"/>
      </a:accent2>
      <a:accent3>
        <a:srgbClr val="005B2E"/>
      </a:accent3>
      <a:accent4>
        <a:srgbClr val="FFC900"/>
      </a:accent4>
      <a:accent5>
        <a:srgbClr val="FF7622"/>
      </a:accent5>
      <a:accent6>
        <a:srgbClr val="6DBE45"/>
      </a:accent6>
      <a:hlink>
        <a:srgbClr val="2E6B3E"/>
      </a:hlink>
      <a:folHlink>
        <a:srgbClr val="827343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153A2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153A2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153A2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153A2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153A2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153A2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153A2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fb883523aa144dd" /><Relationship Type="http://schemas.openxmlformats.org/officeDocument/2006/relationships/notesMaster" Target="/ppt/notesMasters/notesMaster1.xml" Id="R0a8b4134420b43e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8e3a45e6e604a37" /><Relationship Type="http://schemas.openxmlformats.org/officeDocument/2006/relationships/notesMaster" Target="/ppt/notesMasters/notesMaster1.xml" Id="R1aa18e0ce57145a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e896b88f84945f9" /><Relationship Type="http://schemas.openxmlformats.org/officeDocument/2006/relationships/notesMaster" Target="/ppt/notesMasters/notesMaster1.xml" Id="R5a1fe0127897437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9aceb4353ab4f66" /><Relationship Type="http://schemas.openxmlformats.org/officeDocument/2006/relationships/notesMaster" Target="/ppt/notesMasters/notesMaster1.xml" Id="R3a0774bf4c65494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5c4e4df25864d3f" /><Relationship Type="http://schemas.openxmlformats.org/officeDocument/2006/relationships/notesMaster" Target="/ppt/notesMasters/notesMaster1.xml" Id="R10d8965654ff4c7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ea810f75e7d4aec" /><Relationship Type="http://schemas.openxmlformats.org/officeDocument/2006/relationships/notesMaster" Target="/ppt/notesMasters/notesMaster1.xml" Id="Rf6b0971cf5e8481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744da17ed754a5d" /><Relationship Type="http://schemas.openxmlformats.org/officeDocument/2006/relationships/notesMaster" Target="/ppt/notesMasters/notesMaster1.xml" Id="Re39844bb265a441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1460f7d518f4b75" /><Relationship Type="http://schemas.openxmlformats.org/officeDocument/2006/relationships/notesMaster" Target="/ppt/notesMasters/notesMaster1.xml" Id="Ra40069658fba4cc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0a567076d8a4070" /><Relationship Type="http://schemas.openxmlformats.org/officeDocument/2006/relationships/notesMaster" Target="/ppt/notesMasters/notesMaster1.xml" Id="R131b8fc248774b8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f7d5a6aca334f5f" /><Relationship Type="http://schemas.openxmlformats.org/officeDocument/2006/relationships/notesMaster" Target="/ppt/notesMasters/notesMaster1.xml" Id="R0250ad8083ff4270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ab6106edb131407c" /><Relationship Type="http://schemas.openxmlformats.org/officeDocument/2006/relationships/notesMaster" Target="/ppt/notesMasters/notesMaster1.xml" Id="R570fbd2f5889449c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8e8fce0852804916" /><Relationship Type="http://schemas.openxmlformats.org/officeDocument/2006/relationships/notesMaster" Target="/ppt/notesMasters/notesMaster1.xml" Id="R1ebbafb2b1904090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2be1a5a195194baa" /><Relationship Type="http://schemas.openxmlformats.org/officeDocument/2006/relationships/notesMaster" Target="/ppt/notesMasters/notesMaster1.xml" Id="R859c3a312db6443b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86a755b3cee84f7f" /><Relationship Type="http://schemas.openxmlformats.org/officeDocument/2006/relationships/notesMaster" Target="/ppt/notesMasters/notesMaster1.xml" Id="Re6ec0934bdfa4171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835d16829cfd4cbc" /><Relationship Type="http://schemas.openxmlformats.org/officeDocument/2006/relationships/notesMaster" Target="/ppt/notesMasters/notesMaster1.xml" Id="Re62ea2b07d5a488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a80d330fbeb47c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14a2e2a22ea4c6d" /><Relationship Type="http://schemas.openxmlformats.org/officeDocument/2006/relationships/slideLayout" Target="/ppt/slideLayouts/slideLayout1.xml" Id="R4b919c0f761949d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b919c0f761949d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153A20"/>
      </a:dk1>
      <a:lt1>
        <a:srgbClr val="FFFFFF"/>
      </a:lt1>
      <a:dk2>
        <a:srgbClr val="003C20"/>
      </a:dk2>
      <a:lt2>
        <a:srgbClr val="E8E8E8"/>
      </a:lt2>
      <a:accent1>
        <a:srgbClr val="003C20"/>
      </a:accent1>
      <a:accent2>
        <a:srgbClr val="FFC900"/>
      </a:accent2>
      <a:accent3>
        <a:srgbClr val="005B2E"/>
      </a:accent3>
      <a:accent4>
        <a:srgbClr val="FFC900"/>
      </a:accent4>
      <a:accent5>
        <a:srgbClr val="FF7622"/>
      </a:accent5>
      <a:accent6>
        <a:srgbClr val="6DBE45"/>
      </a:accent6>
      <a:hlink>
        <a:srgbClr val="2E6B3E"/>
      </a:hlink>
      <a:folHlink>
        <a:srgbClr val="827343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153A2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153A2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153A2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153A2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153A2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153A2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153A2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3e76c5f9d1b4cf5" /><Relationship Type="http://schemas.openxmlformats.org/officeDocument/2006/relationships/notesSlide" Target="/ppt/notesSlides/notesSlide1.xml" Id="R9bf8a27a88864a9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2d245406714aad" /><Relationship Type="http://schemas.openxmlformats.org/officeDocument/2006/relationships/notesSlide" Target="/ppt/notesSlides/notesSlide2.xml" Id="Rd1e504f00d84446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44454e1ec84ee3" /><Relationship Type="http://schemas.openxmlformats.org/officeDocument/2006/relationships/image" Target="/ppt/media/image.png" Id="R7f34aac813774bdf" /><Relationship Type="http://schemas.openxmlformats.org/officeDocument/2006/relationships/notesSlide" Target="/ppt/notesSlides/notesSlide3.xml" Id="R78a49576e38e443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be67b36a9064bf8" /><Relationship Type="http://schemas.openxmlformats.org/officeDocument/2006/relationships/notesSlide" Target="/ppt/notesSlides/notesSlide4.xml" Id="Ra654e33735944c1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0c27402e5f473e" /><Relationship Type="http://schemas.openxmlformats.org/officeDocument/2006/relationships/notesSlide" Target="/ppt/notesSlides/notesSlide5.xml" Id="R79ef30c316be443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17862107a048dd" /><Relationship Type="http://schemas.openxmlformats.org/officeDocument/2006/relationships/notesSlide" Target="/ppt/notesSlides/notesSlide6.xml" Id="R8f0ef4d4cf91485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c5d074f9eb4585" /><Relationship Type="http://schemas.openxmlformats.org/officeDocument/2006/relationships/notesSlide" Target="/ppt/notesSlides/notesSlide7.xml" Id="Rd3114ed1b4954cf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b0d18cc4be4cad" /><Relationship Type="http://schemas.openxmlformats.org/officeDocument/2006/relationships/notesSlide" Target="/ppt/notesSlides/notesSlide8.xml" Id="R8a386135feaa43f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b1000f4b984d2e" /><Relationship Type="http://schemas.openxmlformats.org/officeDocument/2006/relationships/notesSlide" Target="/ppt/notesSlides/notesSlide9.xml" Id="R6dfe5d457fb3413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73394baa69f4f72" /><Relationship Type="http://schemas.openxmlformats.org/officeDocument/2006/relationships/notesSlide" Target="/ppt/notesSlides/notesSlide10.xml" Id="R9a1f291e29ee4db6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facb58a91a404d" /><Relationship Type="http://schemas.openxmlformats.org/officeDocument/2006/relationships/notesSlide" Target="/ppt/notesSlides/notesSlide11.xml" Id="R5ef245160bf245dc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983889a5464eab" /><Relationship Type="http://schemas.openxmlformats.org/officeDocument/2006/relationships/notesSlide" Target="/ppt/notesSlides/notesSlide12.xml" Id="R857fe9f523444f6d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f4bbdf9bcab48fa" /><Relationship Type="http://schemas.openxmlformats.org/officeDocument/2006/relationships/notesSlide" Target="/ppt/notesSlides/notesSlide13.xml" Id="R709a4091fa874e56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deff5998294824" /><Relationship Type="http://schemas.openxmlformats.org/officeDocument/2006/relationships/notesSlide" Target="/ppt/notesSlides/notesSlide14.xml" Id="R9a03afeccd9c440d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7cd621399b248ec" /><Relationship Type="http://schemas.openxmlformats.org/officeDocument/2006/relationships/notesSlide" Target="/ppt/notesSlides/notesSlide15.xml" Id="R3fc8a917a2b64b8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AD3DC35-51E9-4732-B411-8A2579A98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B2E"/>
          </a:solidFill>
          <a:ln xmlns:a="http://schemas.openxmlformats.org/drawingml/2006/main" w="0">
            <a:solidFill>
              <a:srgbClr val="005B2E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D0BEEDC-BB53-4189-910B-3B84D2FE5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8625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005B2E"/>
                </a:solidFill>
              </a:defRPr>
            </a:pPr>
            <a:r>
              <a:rPr sz="975" b="1">
                <a:solidFill>
                  <a:srgbClr val="005B2E"/>
                </a:solidFill>
              </a:rPr>
              <a:t>Clase 1 · 90 minutos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4C551FC-FE94-4012-A35E-643B22F68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42950"/>
            <a:ext cx="10858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005B2E"/>
                </a:solidFill>
              </a:defRPr>
            </a:pPr>
            <a:r>
              <a:rPr sz="2700" b="1">
                <a:solidFill>
                  <a:srgbClr val="005B2E"/>
                </a:solidFill>
              </a:rPr>
              <a:t>Campo eléctrico: de la interacción al modelo físico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1021D32-320B-4C72-85A0-565A88320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38275"/>
            <a:ext cx="10858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622"/>
          </a:solidFill>
          <a:ln xmlns:a="http://schemas.openxmlformats.org/drawingml/2006/main" w="0">
            <a:solidFill>
              <a:srgbClr val="FF7622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7E08425-12C1-44CA-BDA0-0A5B594B0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33625"/>
            <a:ext cx="9525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400" b="1">
                <a:solidFill>
                  <a:srgbClr val="FF7622"/>
                </a:solidFill>
              </a:defRPr>
            </a:pPr>
            <a:r>
              <a:rPr sz="2400" b="1">
                <a:solidFill>
                  <a:srgbClr val="FF7622"/>
                </a:solidFill>
              </a:rPr>
              <a:t>¿Por qué un globo frotado atrae pequeños trozos de papel?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DC527A0-E5A3-4FC2-BE2B-1042865AC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333750"/>
            <a:ext cx="9525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725" b="0">
                <a:solidFill>
                  <a:srgbClr val="465B49"/>
                </a:solidFill>
              </a:defRPr>
            </a:pPr>
            <a:r>
              <a:rPr sz="1725" b="0">
                <a:solidFill>
                  <a:srgbClr val="465B49"/>
                </a:solidFill>
              </a:rPr>
              <a:t>Hoy construiremos una explicación, una fórmula y un método para resolver problemas.</a:t>
            </a:r>
          </a:p>
        </p:txBody>
      </p:sp>
      <p:sp>
        <p:nvSpPr>
          <p:cNvPr id="8" name="UTESA yellow accent">
            <a:extLst xmlns:a="http://schemas.openxmlformats.org/drawingml/2006/main">
              <a:ext uri="{FF2B5EF4-FFF2-40B4-BE49-F238E27FC236}">
                <a16:creationId xmlns:a16="http://schemas.microsoft.com/office/drawing/2014/main" id="{36AAD033-1A45-4BC0-B7B3-6AC967206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66700"/>
            <a:ext cx="1219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900"/>
          </a:solidFill>
          <a:ln xmlns:a="http://schemas.openxmlformats.org/drawingml/2006/main" w="0">
            <a:solidFill>
              <a:srgbClr val="FFC900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71596964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EA13C6F-63F1-4E5F-A4C4-B3CDF89E2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B2E"/>
          </a:solidFill>
          <a:ln xmlns:a="http://schemas.openxmlformats.org/drawingml/2006/main" w="0">
            <a:solidFill>
              <a:srgbClr val="005B2E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BF726AA-5398-4050-B83D-441391969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8625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005B2E"/>
                </a:solidFill>
              </a:defRPr>
            </a:pPr>
            <a:r>
              <a:rPr sz="975" b="1">
                <a:solidFill>
                  <a:srgbClr val="005B2E"/>
                </a:solidFill>
              </a:rPr>
              <a:t>Fundamentos de Física Eléctrica · Capítulo 21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67EC803-02CB-45EF-8DF6-80E55FC2F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42950"/>
            <a:ext cx="10858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005B2E"/>
                </a:solidFill>
              </a:defRPr>
            </a:pPr>
            <a:r>
              <a:rPr sz="2700" b="1">
                <a:solidFill>
                  <a:srgbClr val="005B2E"/>
                </a:solidFill>
              </a:rPr>
              <a:t>21.1 Carga eléctrica: una propiedad que produce interacciones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4750847-5955-44B7-B40F-E83B509E2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38275"/>
            <a:ext cx="10858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622"/>
          </a:solidFill>
          <a:ln xmlns:a="http://schemas.openxmlformats.org/drawingml/2006/main" w="0">
            <a:solidFill>
              <a:srgbClr val="FF7622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A8F1811-7354-4A46-AEEC-AEF479157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714500"/>
            <a:ext cx="10382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005B2E"/>
                </a:solidFill>
              </a:defRPr>
            </a:pPr>
            <a:r>
              <a:rPr sz="1650" b="1">
                <a:solidFill>
                  <a:srgbClr val="005B2E"/>
                </a:solidFill>
              </a:rPr>
              <a:t>La carga eléctrica es una propiedad física de la materia que permite que los cuerpos se atraigan o se repelan.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62B72FC-AAA6-43C0-B07E-6926AE656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524125"/>
            <a:ext cx="10287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153A20"/>
                </a:solidFill>
              </a:defRPr>
            </a:pPr>
            <a:r>
              <a:rPr sz="1650" b="0">
                <a:solidFill>
                  <a:srgbClr val="153A20"/>
                </a:solidFill>
              </a:rPr>
              <a:t>•  Un cuerpo es neutro cuando sus cargas positivas y negativas se equilibran.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6F74BE4-2826-4253-900E-0F454F66B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67050"/>
            <a:ext cx="10287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153A20"/>
                </a:solidFill>
              </a:defRPr>
            </a:pPr>
            <a:r>
              <a:rPr sz="1650" b="0">
                <a:solidFill>
                  <a:srgbClr val="153A20"/>
                </a:solidFill>
              </a:rPr>
              <a:t>•  Al frotar dos materiales, se transfieren electrones: uno queda con exceso y otro con déficit.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68BBF35-915D-4091-87E5-0DE407360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609975"/>
            <a:ext cx="10287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153A20"/>
                </a:solidFill>
              </a:defRPr>
            </a:pPr>
            <a:r>
              <a:rPr sz="1650" b="0">
                <a:solidFill>
                  <a:srgbClr val="153A20"/>
                </a:solidFill>
              </a:rPr>
              <a:t>•  Por eso aparecen dos tipos de carga: positiva (+) y negativa (−).</a:t>
            </a:r>
          </a:p>
        </p:txBody>
      </p:sp>
      <p:sp>
        <p:nvSpPr>
          <p:cNvPr id="10" name="UTESA yellow accent">
            <a:extLst xmlns:a="http://schemas.openxmlformats.org/drawingml/2006/main">
              <a:ext uri="{FF2B5EF4-FFF2-40B4-BE49-F238E27FC236}">
                <a16:creationId xmlns:a16="http://schemas.microsoft.com/office/drawing/2014/main" id="{81007B95-4D11-49EF-B0FD-90C10D706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66700"/>
            <a:ext cx="1219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900"/>
          </a:solidFill>
          <a:ln xmlns:a="http://schemas.openxmlformats.org/drawingml/2006/main" w="0">
            <a:solidFill>
              <a:srgbClr val="FFC900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77429796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EFED9B4-065A-416E-ACDC-17F51595E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B2E"/>
          </a:solidFill>
          <a:ln xmlns:a="http://schemas.openxmlformats.org/drawingml/2006/main" w="0">
            <a:solidFill>
              <a:srgbClr val="005B2E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F147E61-98F1-472E-B4A7-5BA2710CE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8625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005B2E"/>
                </a:solidFill>
              </a:defRPr>
            </a:pPr>
            <a:r>
              <a:rPr sz="975" b="1">
                <a:solidFill>
                  <a:srgbClr val="005B2E"/>
                </a:solidFill>
              </a:rPr>
              <a:t>Fundamentos de Física Eléctrica · Capítulo 21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C92CB6B-4947-410E-B885-D7CD26725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42950"/>
            <a:ext cx="10858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005B2E"/>
                </a:solidFill>
              </a:defRPr>
            </a:pPr>
            <a:r>
              <a:rPr sz="2700" b="1">
                <a:solidFill>
                  <a:srgbClr val="005B2E"/>
                </a:solidFill>
              </a:rPr>
              <a:t>21.1 Carga eléctrica: los experimentos muestran las reglas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5172D2E-3B27-4013-94B3-48EE238D7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38275"/>
            <a:ext cx="10858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622"/>
          </a:solidFill>
          <a:ln xmlns:a="http://schemas.openxmlformats.org/drawingml/2006/main" w="0">
            <a:solidFill>
              <a:srgbClr val="FF7622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CC33382-0D2B-475C-8A5D-AC3CF380E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66875"/>
            <a:ext cx="1047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465B49"/>
                </a:solidFill>
              </a:defRPr>
            </a:pPr>
            <a:r>
              <a:rPr sz="1425" b="0">
                <a:solidFill>
                  <a:srgbClr val="465B49"/>
                </a:solidFill>
              </a:rPr>
              <a:t>La imagen permite observar el resultado del frotamiento y relacionarlo con los signos de las cargas.</a:t>
            </a:r>
          </a:p>
        </p:txBody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f34aac813774bdf"/>
          <a:stretch xmlns:a="http://schemas.openxmlformats.org/drawingml/2006/main"/>
        </p:blipFill>
        <p:spPr>
          <a:xfrm xmlns:a="http://schemas.openxmlformats.org/drawingml/2006/main">
            <a:off x="666750" y="2307862"/>
            <a:ext cx="6953250" cy="3623401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CD5DA0E-EE7E-49C6-AA02-5AFEB47A4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333625"/>
            <a:ext cx="3333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005B2E"/>
                </a:solidFill>
              </a:defRPr>
            </a:pPr>
            <a:r>
              <a:rPr sz="1425" b="1">
                <a:solidFill>
                  <a:srgbClr val="005B2E"/>
                </a:solidFill>
              </a:rPr>
              <a:t>a) Plástico + piel</a:t>
            </a:r>
          </a:p>
          <a:p xmlns:a="http://schemas.openxmlformats.org/drawingml/2006/main">
            <a:pPr>
              <a:buNone/>
              <a:defRPr sz="1425" b="1">
                <a:solidFill>
                  <a:srgbClr val="005B2E"/>
                </a:solidFill>
              </a:defRPr>
            </a:pPr>
            <a:r>
              <a:rPr sz="1425" b="1">
                <a:solidFill>
                  <a:srgbClr val="005B2E"/>
                </a:solidFill>
              </a:rPr>
              <a:t>Quedan negativas y se repelen.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A464007-2C68-4025-B8A3-9FD47EEE3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381375"/>
            <a:ext cx="3333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005B2E"/>
                </a:solidFill>
              </a:defRPr>
            </a:pPr>
            <a:r>
              <a:rPr sz="1425" b="1">
                <a:solidFill>
                  <a:srgbClr val="005B2E"/>
                </a:solidFill>
              </a:rPr>
              <a:t>b) Vidrio + seda</a:t>
            </a:r>
          </a:p>
          <a:p xmlns:a="http://schemas.openxmlformats.org/drawingml/2006/main">
            <a:pPr>
              <a:buNone/>
              <a:defRPr sz="1425" b="1">
                <a:solidFill>
                  <a:srgbClr val="005B2E"/>
                </a:solidFill>
              </a:defRPr>
            </a:pPr>
            <a:r>
              <a:rPr sz="1425" b="1">
                <a:solidFill>
                  <a:srgbClr val="005B2E"/>
                </a:solidFill>
              </a:rPr>
              <a:t>Quedan positivas y se repelen.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928115C-60CA-458A-96A7-2B4D9C9F4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429125"/>
            <a:ext cx="3333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005B2E"/>
                </a:solidFill>
              </a:defRPr>
            </a:pPr>
            <a:r>
              <a:rPr sz="1425" b="1">
                <a:solidFill>
                  <a:srgbClr val="005B2E"/>
                </a:solidFill>
              </a:rPr>
              <a:t>c) Plástico (−) y vidrio (+)</a:t>
            </a:r>
          </a:p>
          <a:p xmlns:a="http://schemas.openxmlformats.org/drawingml/2006/main">
            <a:pPr>
              <a:buNone/>
              <a:defRPr sz="1425" b="1">
                <a:solidFill>
                  <a:srgbClr val="005B2E"/>
                </a:solidFill>
              </a:defRPr>
            </a:pPr>
            <a:r>
              <a:rPr sz="1425" b="1">
                <a:solidFill>
                  <a:srgbClr val="005B2E"/>
                </a:solidFill>
              </a:rPr>
              <a:t>Se atraen por tener cargas opuestas.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BAB2C56-C34D-4CCD-B946-23F4AE996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5619750"/>
            <a:ext cx="3333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FF7622"/>
                </a:solidFill>
              </a:defRPr>
            </a:pPr>
            <a:r>
              <a:rPr sz="1350" b="1">
                <a:solidFill>
                  <a:srgbClr val="FF7622"/>
                </a:solidFill>
              </a:rPr>
              <a:t>Regla: mismo signo se repele; signos opuestos se atraen.</a:t>
            </a:r>
          </a:p>
        </p:txBody>
      </p:sp>
      <p:sp>
        <p:nvSpPr>
          <p:cNvPr id="13" name="UTESA yellow accent">
            <a:extLst xmlns:a="http://schemas.openxmlformats.org/drawingml/2006/main">
              <a:ext uri="{FF2B5EF4-FFF2-40B4-BE49-F238E27FC236}">
                <a16:creationId xmlns:a16="http://schemas.microsoft.com/office/drawing/2014/main" id="{6A579CD8-C156-405C-B7E7-5FE8BAC65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66700"/>
            <a:ext cx="1219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900"/>
          </a:solidFill>
          <a:ln xmlns:a="http://schemas.openxmlformats.org/drawingml/2006/main" w="0">
            <a:solidFill>
              <a:srgbClr val="FFC900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0071489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7E15435-A92E-45AE-95CC-3313482E8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B2E"/>
          </a:solidFill>
          <a:ln xmlns:a="http://schemas.openxmlformats.org/drawingml/2006/main" w="0">
            <a:solidFill>
              <a:srgbClr val="005B2E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70FD20C-8611-4A0E-89D6-3E56797AF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8625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005B2E"/>
                </a:solidFill>
              </a:defRPr>
            </a:pPr>
            <a:r>
              <a:rPr sz="975" b="1">
                <a:solidFill>
                  <a:srgbClr val="005B2E"/>
                </a:solidFill>
              </a:rPr>
              <a:t>Fundamentos de Física Eléctrica · Capítulo 21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AE018BE-54B0-431B-95AB-D21C292D8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42950"/>
            <a:ext cx="10858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005B2E"/>
                </a:solidFill>
              </a:defRPr>
            </a:pPr>
            <a:r>
              <a:rPr sz="2700" b="1">
                <a:solidFill>
                  <a:srgbClr val="005B2E"/>
                </a:solidFill>
              </a:rPr>
              <a:t>Conservación y cuantización de la carga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4EC276D-B2AC-461D-8419-66AE2C6B6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38275"/>
            <a:ext cx="10858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622"/>
          </a:solidFill>
          <a:ln xmlns:a="http://schemas.openxmlformats.org/drawingml/2006/main" w="0">
            <a:solidFill>
              <a:srgbClr val="FF7622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CBD274F-DD76-4BF9-9029-F9C0AE61F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00250"/>
            <a:ext cx="10287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153A20"/>
                </a:solidFill>
              </a:defRPr>
            </a:pPr>
            <a:r>
              <a:rPr sz="1650" b="0">
                <a:solidFill>
                  <a:srgbClr val="153A20"/>
                </a:solidFill>
              </a:rPr>
              <a:t>•  La carga total se conserva: no se crea ni se destruye, solo se transfiere.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D15E969-EB2E-4183-9BBF-2FCAFEAE5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543175"/>
            <a:ext cx="10287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153A20"/>
                </a:solidFill>
              </a:defRPr>
            </a:pPr>
            <a:r>
              <a:rPr sz="1650" b="0">
                <a:solidFill>
                  <a:srgbClr val="153A20"/>
                </a:solidFill>
              </a:rPr>
              <a:t>•  La carga elemental es e = 1.60 × 10⁻¹⁹ C.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4CACC70-7214-4514-9213-B1DD19D8D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86100"/>
            <a:ext cx="10287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153A20"/>
                </a:solidFill>
              </a:defRPr>
            </a:pPr>
            <a:r>
              <a:rPr sz="1650" b="0">
                <a:solidFill>
                  <a:srgbClr val="153A20"/>
                </a:solidFill>
              </a:rPr>
              <a:t>•  En el frotamiento se mueven electrones, no protones.</a:t>
            </a:r>
          </a:p>
        </p:txBody>
      </p:sp>
      <p:sp>
        <p:nvSpPr>
          <p:cNvPr id="9" name="UTESA yellow accent">
            <a:extLst xmlns:a="http://schemas.openxmlformats.org/drawingml/2006/main">
              <a:ext uri="{FF2B5EF4-FFF2-40B4-BE49-F238E27FC236}">
                <a16:creationId xmlns:a16="http://schemas.microsoft.com/office/drawing/2014/main" id="{D7E50965-5178-4A91-B45D-AD1405404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66700"/>
            <a:ext cx="1219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900"/>
          </a:solidFill>
          <a:ln xmlns:a="http://schemas.openxmlformats.org/drawingml/2006/main" w="0">
            <a:solidFill>
              <a:srgbClr val="FFC900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92367084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3A5BE70-60EA-48F7-8C27-6E83E5C8D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B2E"/>
          </a:solidFill>
          <a:ln xmlns:a="http://schemas.openxmlformats.org/drawingml/2006/main" w="0">
            <a:solidFill>
              <a:srgbClr val="005B2E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122E387-655D-450D-9710-D2C34419D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8625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005B2E"/>
                </a:solidFill>
              </a:defRPr>
            </a:pPr>
            <a:r>
              <a:rPr sz="975" b="1">
                <a:solidFill>
                  <a:srgbClr val="005B2E"/>
                </a:solidFill>
              </a:rPr>
              <a:t>Fundamentos de Física Eléctrica · Capítulo 21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98E20FC-562D-4465-97E1-AC4D9F8C8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42950"/>
            <a:ext cx="10858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005B2E"/>
                </a:solidFill>
              </a:defRPr>
            </a:pPr>
            <a:r>
              <a:rPr sz="2700" b="1">
                <a:solidFill>
                  <a:srgbClr val="005B2E"/>
                </a:solidFill>
              </a:rPr>
              <a:t>Conductores, aislantes y polarización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D5E6337-20C7-4294-BB09-855DE0414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38275"/>
            <a:ext cx="10858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622"/>
          </a:solidFill>
          <a:ln xmlns:a="http://schemas.openxmlformats.org/drawingml/2006/main" w="0">
            <a:solidFill>
              <a:srgbClr val="FF7622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739DB71-52C8-4D76-9191-F14B0A626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00250"/>
            <a:ext cx="10287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153A20"/>
                </a:solidFill>
              </a:defRPr>
            </a:pPr>
            <a:r>
              <a:rPr sz="1650" b="0">
                <a:solidFill>
                  <a:srgbClr val="153A20"/>
                </a:solidFill>
              </a:rPr>
              <a:t>•  En conductores, algunas cargas se desplazan con facilidad.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8504B08-0B82-4339-AF6F-DE4A1F0C3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543175"/>
            <a:ext cx="10287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153A20"/>
                </a:solidFill>
              </a:defRPr>
            </a:pPr>
            <a:r>
              <a:rPr sz="1650" b="0">
                <a:solidFill>
                  <a:srgbClr val="153A20"/>
                </a:solidFill>
              </a:rPr>
              <a:t>•  En aislantes, las cargas quedan más localizadas.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BCABAC4-66CD-4B4C-9AA3-0A8E6A79A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86100"/>
            <a:ext cx="10287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153A20"/>
                </a:solidFill>
              </a:defRPr>
            </a:pPr>
            <a:r>
              <a:rPr sz="1650" b="0">
                <a:solidFill>
                  <a:srgbClr val="153A20"/>
                </a:solidFill>
              </a:rPr>
              <a:t>•  Un objeto neutro puede ser atraído por polarización.</a:t>
            </a:r>
          </a:p>
        </p:txBody>
      </p:sp>
      <p:sp>
        <p:nvSpPr>
          <p:cNvPr id="9" name="UTESA yellow accent">
            <a:extLst xmlns:a="http://schemas.openxmlformats.org/drawingml/2006/main">
              <a:ext uri="{FF2B5EF4-FFF2-40B4-BE49-F238E27FC236}">
                <a16:creationId xmlns:a16="http://schemas.microsoft.com/office/drawing/2014/main" id="{6811FC92-36DE-4E72-8489-E46177367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66700"/>
            <a:ext cx="1219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900"/>
          </a:solidFill>
          <a:ln xmlns:a="http://schemas.openxmlformats.org/drawingml/2006/main" w="0">
            <a:solidFill>
              <a:srgbClr val="FFC900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55951044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4AE1BA0-6E02-4E99-A916-D3D699A7F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B2E"/>
          </a:solidFill>
          <a:ln xmlns:a="http://schemas.openxmlformats.org/drawingml/2006/main" w="0">
            <a:solidFill>
              <a:srgbClr val="005B2E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2C1253E-ADA4-4003-A7F3-7F403734E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8625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005B2E"/>
                </a:solidFill>
              </a:defRPr>
            </a:pPr>
            <a:r>
              <a:rPr sz="975" b="1">
                <a:solidFill>
                  <a:srgbClr val="005B2E"/>
                </a:solidFill>
              </a:rPr>
              <a:t>Fundamentos de Física Eléctrica · Capítulo 21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4BA6C62-59EC-4886-AF9A-E173DD628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42950"/>
            <a:ext cx="10858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005B2E"/>
                </a:solidFill>
              </a:defRPr>
            </a:pPr>
            <a:r>
              <a:rPr sz="2700" b="1">
                <a:solidFill>
                  <a:srgbClr val="005B2E"/>
                </a:solidFill>
              </a:rPr>
              <a:t>Antes de usar fórmulas, decide el sentido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27CFBFE-E7F2-45B4-B772-DEB0A4D09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38275"/>
            <a:ext cx="10858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622"/>
          </a:solidFill>
          <a:ln xmlns:a="http://schemas.openxmlformats.org/drawingml/2006/main" w="0">
            <a:solidFill>
              <a:srgbClr val="FF7622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4A54945-923D-4969-B280-B15AD1447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00250"/>
            <a:ext cx="10287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153A20"/>
                </a:solidFill>
              </a:defRPr>
            </a:pPr>
            <a:r>
              <a:rPr sz="1650" b="0">
                <a:solidFill>
                  <a:srgbClr val="153A20"/>
                </a:solidFill>
              </a:rPr>
              <a:t>•  Mismo signo: las fuerzas se alejan.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C18C026-BF08-4DE9-8FFC-32744AE6C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543175"/>
            <a:ext cx="10287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153A20"/>
                </a:solidFill>
              </a:defRPr>
            </a:pPr>
            <a:r>
              <a:rPr sz="1650" b="0">
                <a:solidFill>
                  <a:srgbClr val="153A20"/>
                </a:solidFill>
              </a:rPr>
              <a:t>•  Signos opuestos: las fuerzas se acercan.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BF90DA4-5D11-4D6E-877D-A51991B64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86100"/>
            <a:ext cx="10287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153A20"/>
                </a:solidFill>
              </a:defRPr>
            </a:pPr>
            <a:r>
              <a:rPr sz="1650" b="0">
                <a:solidFill>
                  <a:srgbClr val="153A20"/>
                </a:solidFill>
              </a:rPr>
              <a:t>•  Las fuerzas son iguales en magnitud y opuestas en sentido.</a:t>
            </a:r>
          </a:p>
        </p:txBody>
      </p:sp>
      <p:sp>
        <p:nvSpPr>
          <p:cNvPr id="9" name="UTESA yellow accent">
            <a:extLst xmlns:a="http://schemas.openxmlformats.org/drawingml/2006/main">
              <a:ext uri="{FF2B5EF4-FFF2-40B4-BE49-F238E27FC236}">
                <a16:creationId xmlns:a16="http://schemas.microsoft.com/office/drawing/2014/main" id="{F694A76F-E823-43D0-A4C4-1B788D9A8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66700"/>
            <a:ext cx="1219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900"/>
          </a:solidFill>
          <a:ln xmlns:a="http://schemas.openxmlformats.org/drawingml/2006/main" w="0">
            <a:solidFill>
              <a:srgbClr val="FFC900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48265832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4412AC5-0400-426F-9DEB-D5370461B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B2E"/>
          </a:solidFill>
          <a:ln xmlns:a="http://schemas.openxmlformats.org/drawingml/2006/main" w="0">
            <a:solidFill>
              <a:srgbClr val="005B2E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812EE7E-C0BF-4F7E-BC00-CC90CD695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8625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005B2E"/>
                </a:solidFill>
              </a:defRPr>
            </a:pPr>
            <a:r>
              <a:rPr sz="975" b="1">
                <a:solidFill>
                  <a:srgbClr val="005B2E"/>
                </a:solidFill>
              </a:rPr>
              <a:t>Fundamentos de Física Eléctrica · Capítulo 21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D5B3555-DE56-4783-96F1-BB74A3D67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42950"/>
            <a:ext cx="10858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005B2E"/>
                </a:solidFill>
              </a:defRPr>
            </a:pPr>
            <a:r>
              <a:rPr sz="2700" b="1">
                <a:solidFill>
                  <a:srgbClr val="005B2E"/>
                </a:solidFill>
              </a:rPr>
              <a:t>Ley de Coulomb: cuánto vale la fuerza eléctrica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4412957-3837-4368-A726-1A4B70A11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38275"/>
            <a:ext cx="10858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622"/>
          </a:solidFill>
          <a:ln xmlns:a="http://schemas.openxmlformats.org/drawingml/2006/main" w="0">
            <a:solidFill>
              <a:srgbClr val="FF7622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A633CCB-65A5-4B3F-876C-FBFCB0DAE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047875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000" b="1">
                <a:solidFill>
                  <a:srgbClr val="FF7622"/>
                </a:solidFill>
              </a:defRPr>
            </a:pPr>
            <a:r>
              <a:rPr sz="3000" b="1">
                <a:solidFill>
                  <a:srgbClr val="FF7622"/>
                </a:solidFill>
              </a:rPr>
              <a:t>F = k |q₁q₂| / r²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8E45C38-C8C8-454F-874E-5C9B5F4A4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48000"/>
            <a:ext cx="10287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153A20"/>
                </a:solidFill>
              </a:defRPr>
            </a:pPr>
            <a:r>
              <a:rPr sz="1650" b="0">
                <a:solidFill>
                  <a:srgbClr val="153A20"/>
                </a:solidFill>
              </a:rPr>
              <a:t>•  F en N; cargas en C; distancia en m.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A536CC0-445E-4480-85DD-8077AD37F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590925"/>
            <a:ext cx="10287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153A20"/>
                </a:solidFill>
              </a:defRPr>
            </a:pPr>
            <a:r>
              <a:rPr sz="1650" b="0">
                <a:solidFill>
                  <a:srgbClr val="153A20"/>
                </a:solidFill>
              </a:rPr>
              <a:t>•  k = 8.99 × 10⁹ N·m²/C².</a:t>
            </a:r>
          </a:p>
        </p:txBody>
      </p:sp>
      <p:sp>
        <p:nvSpPr>
          <p:cNvPr id="9" name="UTESA yellow accent">
            <a:extLst xmlns:a="http://schemas.openxmlformats.org/drawingml/2006/main">
              <a:ext uri="{FF2B5EF4-FFF2-40B4-BE49-F238E27FC236}">
                <a16:creationId xmlns:a16="http://schemas.microsoft.com/office/drawing/2014/main" id="{204A4E51-F959-46B9-B72E-DBE729CF1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66700"/>
            <a:ext cx="1219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900"/>
          </a:solidFill>
          <a:ln xmlns:a="http://schemas.openxmlformats.org/drawingml/2006/main" w="0">
            <a:solidFill>
              <a:srgbClr val="FFC900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72353465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F5F6777-E62C-40C9-B9D3-D8D53D6BB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B2E"/>
          </a:solidFill>
          <a:ln xmlns:a="http://schemas.openxmlformats.org/drawingml/2006/main" w="0">
            <a:solidFill>
              <a:srgbClr val="005B2E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4E781B9-3B15-4BD6-BDDC-E0233472E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8625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005B2E"/>
                </a:solidFill>
              </a:defRPr>
            </a:pPr>
            <a:r>
              <a:rPr sz="975" b="1">
                <a:solidFill>
                  <a:srgbClr val="005B2E"/>
                </a:solidFill>
              </a:rPr>
              <a:t>Fundamentos de Física Eléctrica · Capítulo 21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1C5BCAB-8AD0-4B58-8A79-DF1976E5E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42950"/>
            <a:ext cx="10858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005B2E"/>
                </a:solidFill>
              </a:defRPr>
            </a:pPr>
            <a:r>
              <a:rPr sz="2700" b="1">
                <a:solidFill>
                  <a:srgbClr val="005B2E"/>
                </a:solidFill>
              </a:rPr>
              <a:t>Un método que sirve para cada ejercicio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62CCB9F-BB83-4271-AA25-0FCCE626A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38275"/>
            <a:ext cx="10858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622"/>
          </a:solidFill>
          <a:ln xmlns:a="http://schemas.openxmlformats.org/drawingml/2006/main" w="0">
            <a:solidFill>
              <a:srgbClr val="FF7622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9BDB319-E4B1-49CB-BC2B-6FE96FCFF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00250"/>
            <a:ext cx="10287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153A20"/>
                </a:solidFill>
              </a:defRPr>
            </a:pPr>
            <a:r>
              <a:rPr sz="1650" b="0">
                <a:solidFill>
                  <a:srgbClr val="153A20"/>
                </a:solidFill>
              </a:rPr>
              <a:t>•  1. Dibuja y predice la interacción.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72E5E23-76DE-4429-A7A1-CA1596C71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543175"/>
            <a:ext cx="10287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153A20"/>
                </a:solidFill>
              </a:defRPr>
            </a:pPr>
            <a:r>
              <a:rPr sz="1650" b="0">
                <a:solidFill>
                  <a:srgbClr val="153A20"/>
                </a:solidFill>
              </a:rPr>
              <a:t>•  2. Escribe datos e incógnita; convierte al SI.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2980370-6C43-4930-9036-2148589B5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86100"/>
            <a:ext cx="10287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153A20"/>
                </a:solidFill>
              </a:defRPr>
            </a:pPr>
            <a:r>
              <a:rPr sz="1650" b="0">
                <a:solidFill>
                  <a:srgbClr val="153A20"/>
                </a:solidFill>
              </a:rPr>
              <a:t>•  3. Selecciona la ecuación y sustituye.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6341B81-6900-4352-942B-729A7AAED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629025"/>
            <a:ext cx="10287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153A20"/>
                </a:solidFill>
              </a:defRPr>
            </a:pPr>
            <a:r>
              <a:rPr sz="1650" b="0">
                <a:solidFill>
                  <a:srgbClr val="153A20"/>
                </a:solidFill>
              </a:rPr>
              <a:t>•  4. Revisa unidad, sentido y conclusión.</a:t>
            </a:r>
          </a:p>
        </p:txBody>
      </p:sp>
      <p:sp>
        <p:nvSpPr>
          <p:cNvPr id="10" name="UTESA yellow accent">
            <a:extLst xmlns:a="http://schemas.openxmlformats.org/drawingml/2006/main">
              <a:ext uri="{FF2B5EF4-FFF2-40B4-BE49-F238E27FC236}">
                <a16:creationId xmlns:a16="http://schemas.microsoft.com/office/drawing/2014/main" id="{4B2842BA-3329-4C3C-A716-6C3521E03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66700"/>
            <a:ext cx="1219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900"/>
          </a:solidFill>
          <a:ln xmlns:a="http://schemas.openxmlformats.org/drawingml/2006/main" w="0">
            <a:solidFill>
              <a:srgbClr val="FFC900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0017445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0ACA8B4-8C14-4883-ACC9-C140DE8EA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B2E"/>
          </a:solidFill>
          <a:ln xmlns:a="http://schemas.openxmlformats.org/drawingml/2006/main" w="0">
            <a:solidFill>
              <a:srgbClr val="005B2E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2D91FE-D47B-4C34-B112-530ED4850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8625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005B2E"/>
                </a:solidFill>
              </a:defRPr>
            </a:pPr>
            <a:r>
              <a:rPr sz="975" b="1">
                <a:solidFill>
                  <a:srgbClr val="005B2E"/>
                </a:solidFill>
              </a:rPr>
              <a:t>Fundamentos de Física Eléctrica · Capítulo 21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BB676E0-8611-4B74-97C6-BB257CDCE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42950"/>
            <a:ext cx="10858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005B2E"/>
                </a:solidFill>
              </a:defRPr>
            </a:pPr>
            <a:r>
              <a:rPr sz="2700" b="1">
                <a:solidFill>
                  <a:srgbClr val="005B2E"/>
                </a:solidFill>
              </a:rPr>
              <a:t>Ejemplo para pizarra 1: fuerza entre dos cargas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0678959-2F0C-42E9-AB60-A40C8CA90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38275"/>
            <a:ext cx="10858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622"/>
          </a:solidFill>
          <a:ln xmlns:a="http://schemas.openxmlformats.org/drawingml/2006/main" w="0">
            <a:solidFill>
              <a:srgbClr val="FF7622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789DBC4-4B2B-4D53-A00C-F54F1C41A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00250"/>
            <a:ext cx="10287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153A20"/>
                </a:solidFill>
              </a:defRPr>
            </a:pPr>
            <a:r>
              <a:rPr sz="1650" b="0">
                <a:solidFill>
                  <a:srgbClr val="153A20"/>
                </a:solidFill>
              </a:rPr>
              <a:t>•  Ejemplo 21.1: aplicar Ley de Coulomb.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CB32CFD-24B8-4E50-B58B-5B91E00E5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543175"/>
            <a:ext cx="10287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153A20"/>
                </a:solidFill>
              </a:defRPr>
            </a:pPr>
            <a:r>
              <a:rPr sz="1650" b="0">
                <a:solidFill>
                  <a:srgbClr val="153A20"/>
                </a:solidFill>
              </a:rPr>
              <a:t>•  Identifica q₁, q₂, r y predice la interacción.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1E3F201-04B4-4D78-B1D9-8720AA30F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86100"/>
            <a:ext cx="10287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153A20"/>
                </a:solidFill>
              </a:defRPr>
            </a:pPr>
            <a:r>
              <a:rPr sz="1650" b="0">
                <a:solidFill>
                  <a:srgbClr val="153A20"/>
                </a:solidFill>
              </a:rPr>
              <a:t>•  En pizarra: diagrama → SI → fórmula → cálculo → conclusión.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FBBB4DF-D510-4536-BA3F-19408DBEF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629025"/>
            <a:ext cx="10287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153A20"/>
                </a:solidFill>
              </a:defRPr>
            </a:pPr>
            <a:r>
              <a:rPr sz="1650" b="0">
                <a:solidFill>
                  <a:srgbClr val="153A20"/>
                </a:solidFill>
              </a:rPr>
              <a:t>•  La solución completa está en la Guía Docente.</a:t>
            </a:r>
          </a:p>
        </p:txBody>
      </p:sp>
      <p:sp>
        <p:nvSpPr>
          <p:cNvPr id="10" name="UTESA yellow accent">
            <a:extLst xmlns:a="http://schemas.openxmlformats.org/drawingml/2006/main">
              <a:ext uri="{FF2B5EF4-FFF2-40B4-BE49-F238E27FC236}">
                <a16:creationId xmlns:a16="http://schemas.microsoft.com/office/drawing/2014/main" id="{3CC61774-4982-4542-AEEB-31C2858DC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66700"/>
            <a:ext cx="1219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900"/>
          </a:solidFill>
          <a:ln xmlns:a="http://schemas.openxmlformats.org/drawingml/2006/main" w="0">
            <a:solidFill>
              <a:srgbClr val="FFC900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49765785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349AF78-5C78-4692-8444-4461C82D8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B2E"/>
          </a:solidFill>
          <a:ln xmlns:a="http://schemas.openxmlformats.org/drawingml/2006/main" w="0">
            <a:solidFill>
              <a:srgbClr val="005B2E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5D4A6AB-7101-4FBC-A008-AD101BE0C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8625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005B2E"/>
                </a:solidFill>
              </a:defRPr>
            </a:pPr>
            <a:r>
              <a:rPr sz="975" b="1">
                <a:solidFill>
                  <a:srgbClr val="005B2E"/>
                </a:solidFill>
              </a:rPr>
              <a:t>Fundamentos de Física Eléctrica · Capítulo 21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1586046-24D8-402A-B3F0-D2DF8CB05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42950"/>
            <a:ext cx="10858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005B2E"/>
                </a:solidFill>
              </a:defRPr>
            </a:pPr>
            <a:r>
              <a:rPr sz="2700" b="1">
                <a:solidFill>
                  <a:srgbClr val="005B2E"/>
                </a:solidFill>
              </a:rPr>
              <a:t>Ejemplo para pizarra 2: los signos determinan el sentido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5CFAC90-0338-4066-984F-9E5580CED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38275"/>
            <a:ext cx="10858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622"/>
          </a:solidFill>
          <a:ln xmlns:a="http://schemas.openxmlformats.org/drawingml/2006/main" w="0">
            <a:solidFill>
              <a:srgbClr val="FF7622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9CFDD96-278B-4D12-A36F-AA2CEC6F7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00250"/>
            <a:ext cx="10287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153A20"/>
                </a:solidFill>
              </a:defRPr>
            </a:pPr>
            <a:r>
              <a:rPr sz="1650" b="0">
                <a:solidFill>
                  <a:srgbClr val="153A20"/>
                </a:solidFill>
              </a:rPr>
              <a:t>•  q₁ = +2.0 μC; q₂ = −3.0 μC; r = 0.20 m.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B480281-254F-418E-8407-2D5C886ED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543175"/>
            <a:ext cx="10287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153A20"/>
                </a:solidFill>
              </a:defRPr>
            </a:pPr>
            <a:r>
              <a:rPr sz="1650" b="0">
                <a:solidFill>
                  <a:srgbClr val="153A20"/>
                </a:solidFill>
              </a:rPr>
              <a:t>•  Primero: ¿atracción o repulsión? Dibuja ambas fuerzas.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987F928-52D8-4471-BA8F-F8C1F7593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86100"/>
            <a:ext cx="10287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153A20"/>
                </a:solidFill>
              </a:defRPr>
            </a:pPr>
            <a:r>
              <a:rPr sz="1650" b="0">
                <a:solidFill>
                  <a:srgbClr val="153A20"/>
                </a:solidFill>
              </a:rPr>
              <a:t>•  Resultado para comprobar: 1.35 N, interacción atractiva.</a:t>
            </a:r>
          </a:p>
        </p:txBody>
      </p:sp>
      <p:sp>
        <p:nvSpPr>
          <p:cNvPr id="9" name="UTESA yellow accent">
            <a:extLst xmlns:a="http://schemas.openxmlformats.org/drawingml/2006/main">
              <a:ext uri="{FF2B5EF4-FFF2-40B4-BE49-F238E27FC236}">
                <a16:creationId xmlns:a16="http://schemas.microsoft.com/office/drawing/2014/main" id="{65E2DD4D-3DEF-43E8-8068-902019C71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66700"/>
            <a:ext cx="1219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900"/>
          </a:solidFill>
          <a:ln xmlns:a="http://schemas.openxmlformats.org/drawingml/2006/main" w="0">
            <a:solidFill>
              <a:srgbClr val="FFC900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66633100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41B2C63-C591-4291-A79F-BD1D5BA14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B2E"/>
          </a:solidFill>
          <a:ln xmlns:a="http://schemas.openxmlformats.org/drawingml/2006/main" w="0">
            <a:solidFill>
              <a:srgbClr val="005B2E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415B4E0-12BB-44CF-8B44-905F6284B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8625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005B2E"/>
                </a:solidFill>
              </a:defRPr>
            </a:pPr>
            <a:r>
              <a:rPr sz="975" b="1">
                <a:solidFill>
                  <a:srgbClr val="005B2E"/>
                </a:solidFill>
              </a:rPr>
              <a:t>Fundamentos de Física Eléctrica · Capítulo 21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9D663CF-5740-4671-8CF0-65B7DF393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42950"/>
            <a:ext cx="10858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005B2E"/>
                </a:solidFill>
              </a:defRPr>
            </a:pPr>
            <a:r>
              <a:rPr sz="2700" b="1">
                <a:solidFill>
                  <a:srgbClr val="005B2E"/>
                </a:solidFill>
              </a:rPr>
              <a:t>El campo eléctrico explica la acción a distancia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795F37E-65C2-4CFE-8DBD-D30EBAE7B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38275"/>
            <a:ext cx="10858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622"/>
          </a:solidFill>
          <a:ln xmlns:a="http://schemas.openxmlformats.org/drawingml/2006/main" w="0">
            <a:solidFill>
              <a:srgbClr val="FF7622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82DF179-4FC5-42AF-9307-75DB854C6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00250"/>
            <a:ext cx="10287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153A20"/>
                </a:solidFill>
              </a:defRPr>
            </a:pPr>
            <a:r>
              <a:rPr sz="1650" b="0">
                <a:solidFill>
                  <a:srgbClr val="153A20"/>
                </a:solidFill>
              </a:rPr>
              <a:t>•  Una carga fuente modifica el espacio a su alrededor.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58F21E6-D947-4FDC-AC24-7891153A9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543175"/>
            <a:ext cx="10287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153A20"/>
                </a:solidFill>
              </a:defRPr>
            </a:pPr>
            <a:r>
              <a:rPr sz="1650" b="0">
                <a:solidFill>
                  <a:srgbClr val="153A20"/>
                </a:solidFill>
              </a:rPr>
              <a:t>•  E = F / q₀: campo es fuerza por unidad de carga de prueba.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AE822C9-FB8A-494B-BDFC-3A249566B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86100"/>
            <a:ext cx="10287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153A20"/>
                </a:solidFill>
              </a:defRPr>
            </a:pPr>
            <a:r>
              <a:rPr sz="1650" b="0">
                <a:solidFill>
                  <a:srgbClr val="153A20"/>
                </a:solidFill>
              </a:rPr>
              <a:t>•  El campo existe antes de colocar otra carga.</a:t>
            </a:r>
          </a:p>
        </p:txBody>
      </p:sp>
      <p:sp>
        <p:nvSpPr>
          <p:cNvPr id="9" name="UTESA yellow accent">
            <a:extLst xmlns:a="http://schemas.openxmlformats.org/drawingml/2006/main">
              <a:ext uri="{FF2B5EF4-FFF2-40B4-BE49-F238E27FC236}">
                <a16:creationId xmlns:a16="http://schemas.microsoft.com/office/drawing/2014/main" id="{B1F8CED8-6E2C-4571-B5E7-94062E6AE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66700"/>
            <a:ext cx="1219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900"/>
          </a:solidFill>
          <a:ln xmlns:a="http://schemas.openxmlformats.org/drawingml/2006/main" w="0">
            <a:solidFill>
              <a:srgbClr val="FFC900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206655680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2350992-B181-4163-A242-61F02612B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B2E"/>
          </a:solidFill>
          <a:ln xmlns:a="http://schemas.openxmlformats.org/drawingml/2006/main" w="0">
            <a:solidFill>
              <a:srgbClr val="005B2E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104EE09-DC65-4A24-8016-1D0338B18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8625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005B2E"/>
                </a:solidFill>
              </a:defRPr>
            </a:pPr>
            <a:r>
              <a:rPr sz="975" b="1">
                <a:solidFill>
                  <a:srgbClr val="005B2E"/>
                </a:solidFill>
              </a:rPr>
              <a:t>Fundamentos de Física Eléctrica · Capítulo 21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321AC10-18BF-4513-B9B9-EAFC054EC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42950"/>
            <a:ext cx="10858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005B2E"/>
                </a:solidFill>
              </a:defRPr>
            </a:pPr>
            <a:r>
              <a:rPr sz="2700" b="1">
                <a:solidFill>
                  <a:srgbClr val="005B2E"/>
                </a:solidFill>
              </a:rPr>
              <a:t>Ejemplo para pizarra 3: campo de una carga puntual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F7947D4-5F08-4425-AC92-18EB3ED10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38275"/>
            <a:ext cx="10858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622"/>
          </a:solidFill>
          <a:ln xmlns:a="http://schemas.openxmlformats.org/drawingml/2006/main" w="0">
            <a:solidFill>
              <a:srgbClr val="FF7622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5CF83B1-4351-4CF2-83F6-4715885A6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00250"/>
            <a:ext cx="10287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153A20"/>
                </a:solidFill>
              </a:defRPr>
            </a:pPr>
            <a:r>
              <a:rPr sz="1650" b="0">
                <a:solidFill>
                  <a:srgbClr val="153A20"/>
                </a:solidFill>
              </a:rPr>
              <a:t>•  Ejemplo 21.5: distinguir carga fuente Q, punto P y carga de prueba.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0898AE9-58D3-47ED-90FB-6EBFDEF59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543175"/>
            <a:ext cx="10287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153A20"/>
                </a:solidFill>
              </a:defRPr>
            </a:pPr>
            <a:r>
              <a:rPr sz="1650" b="0">
                <a:solidFill>
                  <a:srgbClr val="153A20"/>
                </a:solidFill>
              </a:rPr>
              <a:t>•  E = k |Q| / r²; la unidad es N/C.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FFE93B4-D59E-4BB9-B8DC-E8800D31F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86100"/>
            <a:ext cx="10287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153A20"/>
                </a:solidFill>
              </a:defRPr>
            </a:pPr>
            <a:r>
              <a:rPr sz="1650" b="0">
                <a:solidFill>
                  <a:srgbClr val="153A20"/>
                </a:solidFill>
              </a:rPr>
              <a:t>•  Q positiva: E se aleja. Q negativa: E apunta hacia Q.</a:t>
            </a:r>
          </a:p>
        </p:txBody>
      </p:sp>
      <p:sp>
        <p:nvSpPr>
          <p:cNvPr id="9" name="UTESA yellow accent">
            <a:extLst xmlns:a="http://schemas.openxmlformats.org/drawingml/2006/main">
              <a:ext uri="{FF2B5EF4-FFF2-40B4-BE49-F238E27FC236}">
                <a16:creationId xmlns:a16="http://schemas.microsoft.com/office/drawing/2014/main" id="{051FB62C-AF54-4E52-BAB1-1BAE5DDF2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66700"/>
            <a:ext cx="1219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900"/>
          </a:solidFill>
          <a:ln xmlns:a="http://schemas.openxmlformats.org/drawingml/2006/main" w="0">
            <a:solidFill>
              <a:srgbClr val="FFC900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474854166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447A536-F206-40AA-BBDD-2CC19E879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B2E"/>
          </a:solidFill>
          <a:ln xmlns:a="http://schemas.openxmlformats.org/drawingml/2006/main" w="0">
            <a:solidFill>
              <a:srgbClr val="005B2E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9A3E95D-0F70-4B45-990D-F14418FCA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8625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005B2E"/>
                </a:solidFill>
              </a:defRPr>
            </a:pPr>
            <a:r>
              <a:rPr sz="975" b="1">
                <a:solidFill>
                  <a:srgbClr val="005B2E"/>
                </a:solidFill>
              </a:rPr>
              <a:t>Fundamentos de Física Eléctrica · Capítulo 21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5289C1A-BDF0-431B-8A3E-E1924533A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42950"/>
            <a:ext cx="10858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005B2E"/>
                </a:solidFill>
              </a:defRPr>
            </a:pPr>
            <a:r>
              <a:rPr sz="2700" b="1">
                <a:solidFill>
                  <a:srgbClr val="005B2E"/>
                </a:solidFill>
              </a:rPr>
              <a:t>Líneas de campo eléctrico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5CB25F6-40B1-4810-A4FF-1F52A626A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38275"/>
            <a:ext cx="10858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622"/>
          </a:solidFill>
          <a:ln xmlns:a="http://schemas.openxmlformats.org/drawingml/2006/main" w="0">
            <a:solidFill>
              <a:srgbClr val="FF7622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B12DFBA-9C6C-4E02-83A2-76E8FA07D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00250"/>
            <a:ext cx="10287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153A20"/>
                </a:solidFill>
              </a:defRPr>
            </a:pPr>
            <a:r>
              <a:rPr sz="1650" b="0">
                <a:solidFill>
                  <a:srgbClr val="153A20"/>
                </a:solidFill>
              </a:rPr>
              <a:t>•  Salen de cargas positivas y terminan en negativas.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0576183-4E51-473A-B708-61CDCA6CC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543175"/>
            <a:ext cx="10287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153A20"/>
                </a:solidFill>
              </a:defRPr>
            </a:pPr>
            <a:r>
              <a:rPr sz="1650" b="0">
                <a:solidFill>
                  <a:srgbClr val="153A20"/>
                </a:solidFill>
              </a:rPr>
              <a:t>•  La flecha indica dirección de 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21F682E-BAC3-4748-A214-352E3FFD4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86100"/>
            <a:ext cx="10287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153A20"/>
                </a:solidFill>
              </a:defRPr>
            </a:pPr>
            <a:r>
              <a:rPr sz="1650" b="0">
                <a:solidFill>
                  <a:srgbClr val="153A20"/>
                </a:solidFill>
              </a:rPr>
              <a:t>•  Líneas más juntas indican campo más intenso.</a:t>
            </a:r>
          </a:p>
        </p:txBody>
      </p:sp>
      <p:sp>
        <p:nvSpPr>
          <p:cNvPr id="9" name="UTESA yellow accent">
            <a:extLst xmlns:a="http://schemas.openxmlformats.org/drawingml/2006/main">
              <a:ext uri="{FF2B5EF4-FFF2-40B4-BE49-F238E27FC236}">
                <a16:creationId xmlns:a16="http://schemas.microsoft.com/office/drawing/2014/main" id="{25CB9632-EB46-4504-8A01-E6A0012D1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66700"/>
            <a:ext cx="1219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900"/>
          </a:solidFill>
          <a:ln xmlns:a="http://schemas.openxmlformats.org/drawingml/2006/main" w="0">
            <a:solidFill>
              <a:srgbClr val="FFC900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680849928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E74AB78-93F0-45B1-974E-B5E688EB5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B2E"/>
          </a:solidFill>
          <a:ln xmlns:a="http://schemas.openxmlformats.org/drawingml/2006/main" w="0">
            <a:solidFill>
              <a:srgbClr val="005B2E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73D80D0-B2D1-4D64-B258-E099D7F10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8625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005B2E"/>
                </a:solidFill>
              </a:defRPr>
            </a:pPr>
            <a:r>
              <a:rPr sz="975" b="1">
                <a:solidFill>
                  <a:srgbClr val="005B2E"/>
                </a:solidFill>
              </a:rPr>
              <a:t>Fundamentos de Física Eléctrica · Capítulo 21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DB3EADB-8BE6-4963-A6C4-871475B06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42950"/>
            <a:ext cx="10858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005B2E"/>
                </a:solidFill>
              </a:defRPr>
            </a:pPr>
            <a:r>
              <a:rPr sz="2700" b="1">
                <a:solidFill>
                  <a:srgbClr val="005B2E"/>
                </a:solidFill>
              </a:rPr>
              <a:t>Resumen y verificación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C7E2C08-89F3-47A7-B614-9E3697FD8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38275"/>
            <a:ext cx="10858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622"/>
          </a:solidFill>
          <a:ln xmlns:a="http://schemas.openxmlformats.org/drawingml/2006/main" w="0">
            <a:solidFill>
              <a:srgbClr val="FF7622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46678A9-F4C0-49C6-8A1A-07EA1E066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00250"/>
            <a:ext cx="10287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153A20"/>
                </a:solidFill>
              </a:defRPr>
            </a:pPr>
            <a:r>
              <a:rPr sz="1650" b="0">
                <a:solidFill>
                  <a:srgbClr val="153A20"/>
                </a:solidFill>
              </a:rPr>
              <a:t>•  Las cargas producen interacciones eléctricas.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EB88F07-A82E-4605-88A1-3AAFB69A5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543175"/>
            <a:ext cx="10287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153A20"/>
                </a:solidFill>
              </a:defRPr>
            </a:pPr>
            <a:r>
              <a:rPr sz="1650" b="0">
                <a:solidFill>
                  <a:srgbClr val="153A20"/>
                </a:solidFill>
              </a:rPr>
              <a:t>•  Coulomb calcula la fuerza entre cargas puntuales.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EB5F6B3-CCF6-4D7B-9D87-08354730B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86100"/>
            <a:ext cx="10287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153A20"/>
                </a:solidFill>
              </a:defRPr>
            </a:pPr>
            <a:r>
              <a:rPr sz="1650" b="0">
                <a:solidFill>
                  <a:srgbClr val="153A20"/>
                </a:solidFill>
              </a:rPr>
              <a:t>•  El campo describe la influencia de una carga.</a:t>
            </a:r>
          </a:p>
        </p:txBody>
      </p:sp>
      <p:sp>
        <p:nvSpPr>
          <p:cNvPr id="9" name="UTESA yellow accent">
            <a:extLst xmlns:a="http://schemas.openxmlformats.org/drawingml/2006/main">
              <a:ext uri="{FF2B5EF4-FFF2-40B4-BE49-F238E27FC236}">
                <a16:creationId xmlns:a16="http://schemas.microsoft.com/office/drawing/2014/main" id="{AC513657-8A83-4863-8CA0-029410177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66700"/>
            <a:ext cx="1219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900"/>
          </a:solidFill>
          <a:ln xmlns:a="http://schemas.openxmlformats.org/drawingml/2006/main" w="0">
            <a:solidFill>
              <a:srgbClr val="FFC900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682581813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C269631-7209-4FC8-9972-1BA60B43C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B2E"/>
          </a:solidFill>
          <a:ln xmlns:a="http://schemas.openxmlformats.org/drawingml/2006/main" w="0">
            <a:solidFill>
              <a:srgbClr val="005B2E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AAC3ED8-96BA-4458-9D81-766DDB255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8625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005B2E"/>
                </a:solidFill>
              </a:defRPr>
            </a:pPr>
            <a:r>
              <a:rPr sz="975" b="1">
                <a:solidFill>
                  <a:srgbClr val="005B2E"/>
                </a:solidFill>
              </a:rPr>
              <a:t>Fundamentos de Física Eléctrica · Capítulo 21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808CA9D-8FBB-4315-8A4A-CFF66AD3A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42950"/>
            <a:ext cx="10858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005B2E"/>
                </a:solidFill>
              </a:defRPr>
            </a:pPr>
            <a:r>
              <a:rPr sz="2700" b="1">
                <a:solidFill>
                  <a:srgbClr val="005B2E"/>
                </a:solidFill>
              </a:rPr>
              <a:t>Tarea: demostrar el procedimiento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0010394-92EC-44D4-8AF7-FACDABCA0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38275"/>
            <a:ext cx="10858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622"/>
          </a:solidFill>
          <a:ln xmlns:a="http://schemas.openxmlformats.org/drawingml/2006/main" w="0">
            <a:solidFill>
              <a:srgbClr val="FF7622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85099AD-28D4-45E9-978D-BC8024771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00250"/>
            <a:ext cx="10287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153A20"/>
                </a:solidFill>
              </a:defRPr>
            </a:pPr>
            <a:r>
              <a:rPr sz="1650" b="0">
                <a:solidFill>
                  <a:srgbClr val="153A20"/>
                </a:solidFill>
              </a:rPr>
              <a:t>•  Conceptuales: P21.1, P21.2 y P21.3.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82A8CB4-C73B-4027-979D-C300228D7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543175"/>
            <a:ext cx="10287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153A20"/>
                </a:solidFill>
              </a:defRPr>
            </a:pPr>
            <a:r>
              <a:rPr sz="1650" b="0">
                <a:solidFill>
                  <a:srgbClr val="153A20"/>
                </a:solidFill>
              </a:rPr>
              <a:t>•  Ley de Coulomb: 21.6 y 21.12.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37FE45C-4AD0-4DB0-AA0A-44A4030DF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86100"/>
            <a:ext cx="10287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153A20"/>
                </a:solidFill>
              </a:defRPr>
            </a:pPr>
            <a:r>
              <a:rPr sz="1650" b="0">
                <a:solidFill>
                  <a:srgbClr val="153A20"/>
                </a:solidFill>
              </a:rPr>
              <a:t>•  Campo eléctrico: 21.25 y 21.30.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A0FDCBD-EBAB-4BA9-8C72-3E1D412A4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629025"/>
            <a:ext cx="10287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153A20"/>
                </a:solidFill>
              </a:defRPr>
            </a:pPr>
            <a:r>
              <a:rPr sz="1650" b="0">
                <a:solidFill>
                  <a:srgbClr val="153A20"/>
                </a:solidFill>
              </a:rPr>
              <a:t>•  Entregar diagrama, SI, procedimiento, unidad y conclusión.</a:t>
            </a:r>
          </a:p>
        </p:txBody>
      </p:sp>
      <p:sp>
        <p:nvSpPr>
          <p:cNvPr id="10" name="UTESA yellow accent">
            <a:extLst xmlns:a="http://schemas.openxmlformats.org/drawingml/2006/main">
              <a:ext uri="{FF2B5EF4-FFF2-40B4-BE49-F238E27FC236}">
                <a16:creationId xmlns:a16="http://schemas.microsoft.com/office/drawing/2014/main" id="{21BF8485-D638-4FE2-ABE5-1B7947619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66700"/>
            <a:ext cx="1219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900"/>
          </a:solidFill>
          <a:ln xmlns:a="http://schemas.openxmlformats.org/drawingml/2006/main" w="0">
            <a:solidFill>
              <a:srgbClr val="FFC900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41249259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153A20"/>
      </a:dk1>
      <a:lt1>
        <a:srgbClr val="FFFFFF"/>
      </a:lt1>
      <a:dk2>
        <a:srgbClr val="003C20"/>
      </a:dk2>
      <a:lt2>
        <a:srgbClr val="E8E8E8"/>
      </a:lt2>
      <a:accent1>
        <a:srgbClr val="003C20"/>
      </a:accent1>
      <a:accent2>
        <a:srgbClr val="FFC900"/>
      </a:accent2>
      <a:accent3>
        <a:srgbClr val="005B2E"/>
      </a:accent3>
      <a:accent4>
        <a:srgbClr val="FFC900"/>
      </a:accent4>
      <a:accent5>
        <a:srgbClr val="FF7622"/>
      </a:accent5>
      <a:accent6>
        <a:srgbClr val="6DBE45"/>
      </a:accent6>
      <a:hlink>
        <a:srgbClr val="2E6B3E"/>
      </a:hlink>
      <a:folHlink>
        <a:srgbClr val="827343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153A2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153A2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153A2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153A2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153A2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153A2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153A2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2026-08-29T01:08:15.2750000Z</dcterms:created>
  <dcterms:modified xsi:type="dcterms:W3CDTF">2026-08-29T01:08:15.2750000Z</dcterms:modified>
</coreProperties>
</file>
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e39c0f82dd4b8a" /><Relationship Type="http://schemas.openxmlformats.org/officeDocument/2006/relationships/extended-properties" Target="/docProps/app.xml" Id="Rb03cbd598a094c4c" /><Relationship Type="http://schemas.openxmlformats.org/officeDocument/2006/relationships/officeDocument" Target="/ppt/presentation.xml" Id="R3e3affb1e1da42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9482b369d64fd0"/>
  </p:sldMasterIdLst>
  <p:notesMasterIdLst>
    <p:notesMasterId xmlns:r="http://schemas.openxmlformats.org/officeDocument/2006/relationships" r:id="R46437fc3d7c74ce9"/>
  </p:notesMasterIdLst>
  <p:sldIdLst>
    <p:sldId xmlns:r="http://schemas.openxmlformats.org/officeDocument/2006/relationships" id="256" r:id="Re18858c2facc4a80"/>
    <p:sldId xmlns:r="http://schemas.openxmlformats.org/officeDocument/2006/relationships" id="257" r:id="R1643e7e80ef643ed"/>
    <p:sldId xmlns:r="http://schemas.openxmlformats.org/officeDocument/2006/relationships" id="258" r:id="R6258d9a925d244b7"/>
    <p:sldId xmlns:r="http://schemas.openxmlformats.org/officeDocument/2006/relationships" id="259" r:id="Rb2500154d3fa4f21"/>
    <p:sldId xmlns:r="http://schemas.openxmlformats.org/officeDocument/2006/relationships" id="260" r:id="R6289bf6820ab49d7"/>
    <p:sldId xmlns:r="http://schemas.openxmlformats.org/officeDocument/2006/relationships" id="261" r:id="R0fd9c6c2f79a4976"/>
    <p:sldId xmlns:r="http://schemas.openxmlformats.org/officeDocument/2006/relationships" id="262" r:id="R4a32d8cbc0f941b5"/>
    <p:sldId xmlns:r="http://schemas.openxmlformats.org/officeDocument/2006/relationships" id="263" r:id="R1c39388718a34aba"/>
    <p:sldId xmlns:r="http://schemas.openxmlformats.org/officeDocument/2006/relationships" id="264" r:id="Rd6ee6f014f7f47c2"/>
    <p:sldId xmlns:r="http://schemas.openxmlformats.org/officeDocument/2006/relationships" id="265" r:id="R6371a86ab086458f"/>
    <p:sldId xmlns:r="http://schemas.openxmlformats.org/officeDocument/2006/relationships" id="266" r:id="R55292de473844783"/>
    <p:sldId xmlns:r="http://schemas.openxmlformats.org/officeDocument/2006/relationships" id="267" r:id="Rec6fca4c5cf64365"/>
    <p:sldId xmlns:r="http://schemas.openxmlformats.org/officeDocument/2006/relationships" id="268" r:id="R994bd04f94d64444"/>
    <p:sldId xmlns:r="http://schemas.openxmlformats.org/officeDocument/2006/relationships" id="269" r:id="Rd475a45abf34418a"/>
    <p:sldId xmlns:r="http://schemas.openxmlformats.org/officeDocument/2006/relationships" id="270" r:id="Rfc1f2a54d4a04b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aa49c1f09647fc" /><Relationship Type="http://schemas.openxmlformats.org/officeDocument/2006/relationships/slideMaster" Target="/ppt/slideMasters/slideMaster1.xml" Id="Rf39482b369d64fd0" /><Relationship Type="http://schemas.openxmlformats.org/officeDocument/2006/relationships/notesMaster" Target="/ppt/notesMasters/notesMaster1.xml" Id="R46437fc3d7c74ce9" /><Relationship Type="http://schemas.openxmlformats.org/officeDocument/2006/relationships/presProps" Target="/ppt/presProps.xml" Id="R38d6e45bef524057" /><Relationship Type="http://schemas.openxmlformats.org/officeDocument/2006/relationships/tableStyles" Target="/ppt/tableStyles.xml" Id="Rbddf0b0a1c094bc4" /><Relationship Type="http://schemas.openxmlformats.org/officeDocument/2006/relationships/slide" Target="/ppt/slides/slide1.xml" Id="Re18858c2facc4a80" /><Relationship Type="http://schemas.openxmlformats.org/officeDocument/2006/relationships/slide" Target="/ppt/slides/slide2.xml" Id="R1643e7e80ef643ed" /><Relationship Type="http://schemas.openxmlformats.org/officeDocument/2006/relationships/slide" Target="/ppt/slides/slide3.xml" Id="R6258d9a925d244b7" /><Relationship Type="http://schemas.openxmlformats.org/officeDocument/2006/relationships/slide" Target="/ppt/slides/slide4.xml" Id="Rb2500154d3fa4f21" /><Relationship Type="http://schemas.openxmlformats.org/officeDocument/2006/relationships/slide" Target="/ppt/slides/slide5.xml" Id="R6289bf6820ab49d7" /><Relationship Type="http://schemas.openxmlformats.org/officeDocument/2006/relationships/slide" Target="/ppt/slides/slide6.xml" Id="R0fd9c6c2f79a4976" /><Relationship Type="http://schemas.openxmlformats.org/officeDocument/2006/relationships/slide" Target="/ppt/slides/slide7.xml" Id="R4a32d8cbc0f941b5" /><Relationship Type="http://schemas.openxmlformats.org/officeDocument/2006/relationships/slide" Target="/ppt/slides/slide8.xml" Id="R1c39388718a34aba" /><Relationship Type="http://schemas.openxmlformats.org/officeDocument/2006/relationships/slide" Target="/ppt/slides/slide9.xml" Id="Rd6ee6f014f7f47c2" /><Relationship Type="http://schemas.openxmlformats.org/officeDocument/2006/relationships/slide" Target="/ppt/slides/slide10.xml" Id="R6371a86ab086458f" /><Relationship Type="http://schemas.openxmlformats.org/officeDocument/2006/relationships/slide" Target="/ppt/slides/slide11.xml" Id="R55292de473844783" /><Relationship Type="http://schemas.openxmlformats.org/officeDocument/2006/relationships/slide" Target="/ppt/slides/slide12.xml" Id="Rec6fca4c5cf64365" /><Relationship Type="http://schemas.openxmlformats.org/officeDocument/2006/relationships/slide" Target="/ppt/slides/slide13.xml" Id="R994bd04f94d64444" /><Relationship Type="http://schemas.openxmlformats.org/officeDocument/2006/relationships/slide" Target="/ppt/slides/slide14.xml" Id="Rd475a45abf34418a" /><Relationship Type="http://schemas.openxmlformats.org/officeDocument/2006/relationships/slide" Target="/ppt/slides/slide15.xml" Id="Rfc1f2a54d4a04b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d5e8fd541e43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4b6aa4a8f64aee" /><Relationship Type="http://schemas.openxmlformats.org/officeDocument/2006/relationships/notesMaster" Target="/ppt/notesMasters/notesMaster1.xml" Id="R3475d3d94d6d48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d7283fb3214c80" /><Relationship Type="http://schemas.openxmlformats.org/officeDocument/2006/relationships/notesMaster" Target="/ppt/notesMasters/notesMaster1.xml" Id="Rd018656f95774c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3ed5587ce84ed1" /><Relationship Type="http://schemas.openxmlformats.org/officeDocument/2006/relationships/notesMaster" Target="/ppt/notesMasters/notesMaster1.xml" Id="R24831abd9e154b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778cea8a094a99" /><Relationship Type="http://schemas.openxmlformats.org/officeDocument/2006/relationships/notesMaster" Target="/ppt/notesMasters/notesMaster1.xml" Id="Rd8fa854066b440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5596d9b4c747ab" /><Relationship Type="http://schemas.openxmlformats.org/officeDocument/2006/relationships/notesMaster" Target="/ppt/notesMasters/notesMaster1.xml" Id="R4da510e0d40248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33fc34ce19405a" /><Relationship Type="http://schemas.openxmlformats.org/officeDocument/2006/relationships/notesMaster" Target="/ppt/notesMasters/notesMaster1.xml" Id="R2b1fd6cfc84e45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c4db7fca6149ea" /><Relationship Type="http://schemas.openxmlformats.org/officeDocument/2006/relationships/notesMaster" Target="/ppt/notesMasters/notesMaster1.xml" Id="R253e2c42bbdc45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11d2143ae64724" /><Relationship Type="http://schemas.openxmlformats.org/officeDocument/2006/relationships/notesMaster" Target="/ppt/notesMasters/notesMaster1.xml" Id="R3520aaf2385c4b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8205df3e6f4637" /><Relationship Type="http://schemas.openxmlformats.org/officeDocument/2006/relationships/notesMaster" Target="/ppt/notesMasters/notesMaster1.xml" Id="R24b1d31eed9d4e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61c219fb784003" /><Relationship Type="http://schemas.openxmlformats.org/officeDocument/2006/relationships/notesMaster" Target="/ppt/notesMasters/notesMaster1.xml" Id="Rf78d30fab9034fa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77f8d36a8a409e" /><Relationship Type="http://schemas.openxmlformats.org/officeDocument/2006/relationships/notesMaster" Target="/ppt/notesMasters/notesMaster1.xml" Id="R1407978203bc47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41b42db91b4eba" /><Relationship Type="http://schemas.openxmlformats.org/officeDocument/2006/relationships/notesMaster" Target="/ppt/notesMasters/notesMaster1.xml" Id="Ra04a4bd3839e418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e3dc540237146ae" /><Relationship Type="http://schemas.openxmlformats.org/officeDocument/2006/relationships/notesMaster" Target="/ppt/notesMasters/notesMaster1.xml" Id="Rd6da4a373974488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646e5b010334c67" /><Relationship Type="http://schemas.openxmlformats.org/officeDocument/2006/relationships/notesMaster" Target="/ppt/notesMasters/notesMaster1.xml" Id="Reb14d2014bd4444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26ea3d98f714b71" /><Relationship Type="http://schemas.openxmlformats.org/officeDocument/2006/relationships/notesMaster" Target="/ppt/notesMasters/notesMaster1.xml" Id="R67b31debd8d943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c9907bf0de4f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42019bcb0c4472" /><Relationship Type="http://schemas.openxmlformats.org/officeDocument/2006/relationships/slideLayout" Target="/ppt/slideLayouts/slideLayout1.xml" Id="R105e2bc6d4a944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5e2bc6d4a944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36dfa95fd43bd" /><Relationship Type="http://schemas.openxmlformats.org/officeDocument/2006/relationships/notesSlide" Target="/ppt/notesSlides/notesSlide1.xml" Id="R0846d060ffae4d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0483b444c4473" /><Relationship Type="http://schemas.openxmlformats.org/officeDocument/2006/relationships/image" Target="/ppt/media/image.png" Id="R8b8c6432dcc542c1" /><Relationship Type="http://schemas.openxmlformats.org/officeDocument/2006/relationships/notesSlide" Target="/ppt/notesSlides/notesSlide2.xml" Id="R80f11afe672d42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cd0b70bca4e85" /><Relationship Type="http://schemas.openxmlformats.org/officeDocument/2006/relationships/notesSlide" Target="/ppt/notesSlides/notesSlide3.xml" Id="Rd9d162e8ee1445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0b29785884599" /><Relationship Type="http://schemas.openxmlformats.org/officeDocument/2006/relationships/notesSlide" Target="/ppt/notesSlides/notesSlide4.xml" Id="R705541532ee14f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d0e56d2e04145" /><Relationship Type="http://schemas.openxmlformats.org/officeDocument/2006/relationships/notesSlide" Target="/ppt/notesSlides/notesSlide5.xml" Id="Rea5091f2a84a48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4717a4f534f09" /><Relationship Type="http://schemas.openxmlformats.org/officeDocument/2006/relationships/notesSlide" Target="/ppt/notesSlides/notesSlide6.xml" Id="R3735eeb43b6f44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b39193d334cdc" /><Relationship Type="http://schemas.openxmlformats.org/officeDocument/2006/relationships/notesSlide" Target="/ppt/notesSlides/notesSlide7.xml" Id="R0e25a1b3550a4c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c174413d44faf" /><Relationship Type="http://schemas.openxmlformats.org/officeDocument/2006/relationships/notesSlide" Target="/ppt/notesSlides/notesSlide8.xml" Id="R1d599a8c267f40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8eb6fbddf4916" /><Relationship Type="http://schemas.openxmlformats.org/officeDocument/2006/relationships/notesSlide" Target="/ppt/notesSlides/notesSlide9.xml" Id="R43e3bf69e0934a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0156ab1db431f" /><Relationship Type="http://schemas.openxmlformats.org/officeDocument/2006/relationships/notesSlide" Target="/ppt/notesSlides/notesSlide10.xml" Id="R3d495a68728146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217af58294a71" /><Relationship Type="http://schemas.openxmlformats.org/officeDocument/2006/relationships/notesSlide" Target="/ppt/notesSlides/notesSlide11.xml" Id="R279291a150e14ff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7b3d5cbe44be4" /><Relationship Type="http://schemas.openxmlformats.org/officeDocument/2006/relationships/notesSlide" Target="/ppt/notesSlides/notesSlide12.xml" Id="R32e027494f4e4c7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68115c5dc4484" /><Relationship Type="http://schemas.openxmlformats.org/officeDocument/2006/relationships/notesSlide" Target="/ppt/notesSlides/notesSlide13.xml" Id="Rfb3f3d9fcddf4d8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9d936d38f4de9" /><Relationship Type="http://schemas.openxmlformats.org/officeDocument/2006/relationships/notesSlide" Target="/ppt/notesSlides/notesSlide14.xml" Id="R292f89a5d3c54ac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dbe40fe764a21" /><Relationship Type="http://schemas.openxmlformats.org/officeDocument/2006/relationships/notesSlide" Target="/ppt/notesSlides/notesSlide15.xml" Id="R6aea4aa3f6954c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04CE2-6D4D-493E-9AF8-F62161D6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solidFill>
              <a:srgbClr val="00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C4E64-4DFF-4600-A57A-F816170F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3B70"/>
                </a:solidFill>
              </a:defRPr>
            </a:pPr>
            <a:r>
              <a:rPr sz="975" b="1">
                <a:solidFill>
                  <a:srgbClr val="003B70"/>
                </a:solidFill>
              </a:rPr>
              <a:t>Clase 1 · 90 minutos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21B4A-39AC-48A4-A152-A906159C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B70"/>
                </a:solidFill>
              </a:defRPr>
            </a:pPr>
            <a:r>
              <a:rPr sz="2700" b="1">
                <a:solidFill>
                  <a:srgbClr val="003B70"/>
                </a:solidFill>
              </a:rPr>
              <a:t>Campo eléctrico: de la interacción al modelo físico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A4750-66B6-477A-B373-0E9E694A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B7E56-3698-4DB9-98CE-9613C667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58220"/>
                </a:solidFill>
              </a:defRPr>
            </a:pPr>
            <a:r>
              <a:rPr sz="2400" b="1">
                <a:solidFill>
                  <a:srgbClr val="F58220"/>
                </a:solidFill>
              </a:rPr>
              <a:t>¿Por qué un globo frotado atrae pequeños trozos de papel?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82E8B-5E2C-4CD0-B7DE-2F8DEC88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25466"/>
                </a:solidFill>
              </a:defRPr>
            </a:pPr>
            <a:r>
              <a:rPr sz="1725" b="0">
                <a:solidFill>
                  <a:srgbClr val="425466"/>
                </a:solidFill>
              </a:rPr>
              <a:t>Hoy construiremos una explicación, una fórmula y un método para resolver problemas.</a:t>
            </a:r>
          </a:p>
        </p:txBody>
      </p:sp>
    </p:spTree>
    <p:extLst>
      <p:ext uri="{BB962C8B-B14F-4D97-AF65-F5344CB8AC3E}">
        <p14:creationId xmlns:p14="http://schemas.microsoft.com/office/powerpoint/2010/main" val="18760902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ECE755-F35E-4750-B192-3C9C50A0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solidFill>
              <a:srgbClr val="00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BBB163-E251-4E60-A6AA-E8A1881D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3B70"/>
                </a:solidFill>
              </a:defRPr>
            </a:pPr>
            <a:r>
              <a:rPr sz="975" b="1">
                <a:solidFill>
                  <a:srgbClr val="003B70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C5F97-3625-44E6-8F8B-FE0F4C2F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B70"/>
                </a:solidFill>
              </a:defRPr>
            </a:pPr>
            <a:r>
              <a:rPr sz="2700" b="1">
                <a:solidFill>
                  <a:srgbClr val="003B70"/>
                </a:solidFill>
              </a:rPr>
              <a:t>21.1 Carga eléctrica: frotar revela dos tipos de carga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94CFD-2084-4A28-BAF8-C348C549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057DE-1BD7-4DEB-B6E9-9BA2F0BF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25466"/>
                </a:solidFill>
              </a:defRPr>
            </a:pPr>
            <a:r>
              <a:rPr sz="1500" b="0">
                <a:solidFill>
                  <a:srgbClr val="425466"/>
                </a:solidFill>
              </a:rPr>
              <a:t>Observa los tres experimentos antes de nombrar las reglas.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8c6432dcc542c1"/>
          <a:stretch xmlns:a="http://schemas.openxmlformats.org/drawingml/2006/main"/>
        </p:blipFill>
        <p:spPr>
          <a:xfrm xmlns:a="http://schemas.openxmlformats.org/drawingml/2006/main">
            <a:off x="714375" y="2209596"/>
            <a:ext cx="7239000" cy="377230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8F831-E15F-475F-B106-BB5F0A88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38375"/>
            <a:ext cx="323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3B70"/>
                </a:solidFill>
              </a:defRPr>
            </a:pPr>
            <a:r>
              <a:rPr sz="1425" b="1">
                <a:solidFill>
                  <a:srgbClr val="003B70"/>
                </a:solidFill>
              </a:rPr>
              <a:t>a) Plástico + piel</a:t>
            </a:r>
          </a:p>
          <a:p xmlns:a="http://schemas.openxmlformats.org/drawingml/2006/main">
            <a:pPr>
              <a:defRPr sz="1425" b="1">
                <a:solidFill>
                  <a:srgbClr val="003B70"/>
                </a:solidFill>
              </a:defRPr>
            </a:pPr>
            <a:r>
              <a:rPr sz="1425" b="1">
                <a:solidFill>
                  <a:srgbClr val="003B70"/>
                </a:solidFill>
              </a:rPr>
              <a:t>Las dos varillas quedan negativas y se repelen.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B9CE8-4DC5-4B5D-A0F7-B56620FE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323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3B70"/>
                </a:solidFill>
              </a:defRPr>
            </a:pPr>
            <a:r>
              <a:rPr sz="1425" b="1">
                <a:solidFill>
                  <a:srgbClr val="003B70"/>
                </a:solidFill>
              </a:rPr>
              <a:t>b) Vidrio + seda</a:t>
            </a:r>
          </a:p>
          <a:p xmlns:a="http://schemas.openxmlformats.org/drawingml/2006/main">
            <a:pPr>
              <a:defRPr sz="1425" b="1">
                <a:solidFill>
                  <a:srgbClr val="003B70"/>
                </a:solidFill>
              </a:defRPr>
            </a:pPr>
            <a:r>
              <a:rPr sz="1425" b="1">
                <a:solidFill>
                  <a:srgbClr val="003B70"/>
                </a:solidFill>
              </a:rPr>
              <a:t>Las dos varillas quedan positivas y se repelen.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9049B-A3BD-4265-8F86-056ACDE5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29125"/>
            <a:ext cx="323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3B70"/>
                </a:solidFill>
              </a:defRPr>
            </a:pPr>
            <a:r>
              <a:rPr sz="1425" b="1">
                <a:solidFill>
                  <a:srgbClr val="003B70"/>
                </a:solidFill>
              </a:rPr>
              <a:t>c) Cargas opuestas</a:t>
            </a:r>
          </a:p>
          <a:p xmlns:a="http://schemas.openxmlformats.org/drawingml/2006/main">
            <a:pPr>
              <a:defRPr sz="1425" b="1">
                <a:solidFill>
                  <a:srgbClr val="003B70"/>
                </a:solidFill>
              </a:defRPr>
            </a:pPr>
            <a:r>
              <a:rPr sz="1425" b="1">
                <a:solidFill>
                  <a:srgbClr val="003B70"/>
                </a:solidFill>
              </a:rPr>
              <a:t>Plástico (−) y vidrio (+) se atraen.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0A1E9-71A9-4708-91FE-C218BF81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6737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8220"/>
                </a:solidFill>
              </a:defRPr>
            </a:pPr>
            <a:r>
              <a:rPr sz="1350" b="1">
                <a:solidFill>
                  <a:srgbClr val="F58220"/>
                </a:solidFill>
              </a:rPr>
              <a:t>Idea clave: mismo signo se repele; signos opuestos se atraen.</a:t>
            </a:r>
          </a:p>
        </p:txBody>
      </p:sp>
    </p:spTree>
    <p:extLst>
      <p:ext uri="{BB962C8B-B14F-4D97-AF65-F5344CB8AC3E}">
        <p14:creationId xmlns:p14="http://schemas.microsoft.com/office/powerpoint/2010/main" val="1143380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DA722-1013-46D8-B7AA-71979062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solidFill>
              <a:srgbClr val="00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C4465-EFE2-42EB-AF8E-1B2BD939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3B70"/>
                </a:solidFill>
              </a:defRPr>
            </a:pPr>
            <a:r>
              <a:rPr sz="975" b="1">
                <a:solidFill>
                  <a:srgbClr val="003B70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57E10-6D28-474D-A962-5D423627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B70"/>
                </a:solidFill>
              </a:defRPr>
            </a:pPr>
            <a:r>
              <a:rPr sz="2700" b="1">
                <a:solidFill>
                  <a:srgbClr val="003B70"/>
                </a:solidFill>
              </a:rPr>
              <a:t>Lo que significa estar cargado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27D51-5F58-41D1-B002-1AD3FC42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C031A-7D76-4FB2-9594-F1B79B33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Una carga eléctrica neta aparece cuando hay desequilibrio entre protones y electrones.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56D3D-C4EB-47B2-A92A-0AFB5FA1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Frotar no crea carga: transfiere electrones entre materiales.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8C4E4-A604-4751-AE5D-2FBC6742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Por convención: plástico frotado con piel → negativo; vidrio frotado con seda → positivo.</a:t>
            </a:r>
          </a:p>
        </p:txBody>
      </p:sp>
    </p:spTree>
    <p:extLst>
      <p:ext uri="{BB962C8B-B14F-4D97-AF65-F5344CB8AC3E}">
        <p14:creationId xmlns:p14="http://schemas.microsoft.com/office/powerpoint/2010/main" val="19786854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4F7713-17B4-40CA-917F-A8735C7C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solidFill>
              <a:srgbClr val="00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D3B58-EA72-43FD-A412-4E729CB3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3B70"/>
                </a:solidFill>
              </a:defRPr>
            </a:pPr>
            <a:r>
              <a:rPr sz="975" b="1">
                <a:solidFill>
                  <a:srgbClr val="003B70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06421-32F3-42A0-BED3-142FB41B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B70"/>
                </a:solidFill>
              </a:defRPr>
            </a:pPr>
            <a:r>
              <a:rPr sz="2700" b="1">
                <a:solidFill>
                  <a:srgbClr val="003B70"/>
                </a:solidFill>
              </a:rPr>
              <a:t>La carga se conserva y aparece en cantidades definidas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6D545-3A37-4E6B-B95C-80E8666C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3FD64-E550-4D77-9D18-10802266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La carga total de un sistema aislado se conserva.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A822D-7E26-430C-9B65-175A2DF4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La carga elemental es e = 1.60 × 10⁻¹⁹ 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DE929-B952-4167-B4A9-FF8FA262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En fenómenos cotidianos se transfieren enormes cantidades de electrones.</a:t>
            </a:r>
          </a:p>
        </p:txBody>
      </p:sp>
    </p:spTree>
    <p:extLst>
      <p:ext uri="{BB962C8B-B14F-4D97-AF65-F5344CB8AC3E}">
        <p14:creationId xmlns:p14="http://schemas.microsoft.com/office/powerpoint/2010/main" val="10077331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D1F4AA-60FE-438C-9CDA-0D666FDF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solidFill>
              <a:srgbClr val="00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A957B-4621-4A44-B14E-C3050B1C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3B70"/>
                </a:solidFill>
              </a:defRPr>
            </a:pPr>
            <a:r>
              <a:rPr sz="975" b="1">
                <a:solidFill>
                  <a:srgbClr val="003B70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3B048-5513-4E70-82C3-1F74F80C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B70"/>
                </a:solidFill>
              </a:defRPr>
            </a:pPr>
            <a:r>
              <a:rPr sz="2700" b="1">
                <a:solidFill>
                  <a:srgbClr val="003B70"/>
                </a:solidFill>
              </a:rPr>
              <a:t>Conductores, aislantes y polarización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D2ECF8-A310-4FCA-8C8C-71F0563B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64636-F700-4B7C-9328-9C6FCA30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Conductores: algunas cargas se mueven con facilidad.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FBDEB-C82A-4352-8BFF-6CADF5B2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Aislantes: las cargas permanecen más localizadas.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96843-EB99-4FA0-B035-0366701E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Un objeto neutro puede ser atraído por polarización, aun sin carga neta.</a:t>
            </a:r>
          </a:p>
        </p:txBody>
      </p:sp>
    </p:spTree>
    <p:extLst>
      <p:ext uri="{BB962C8B-B14F-4D97-AF65-F5344CB8AC3E}">
        <p14:creationId xmlns:p14="http://schemas.microsoft.com/office/powerpoint/2010/main" val="16162496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171DFA-E71B-4417-8288-4B6E6A2B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solidFill>
              <a:srgbClr val="00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CC098-38CE-4F60-9C2E-B3D5521F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3B70"/>
                </a:solidFill>
              </a:defRPr>
            </a:pPr>
            <a:r>
              <a:rPr sz="975" b="1">
                <a:solidFill>
                  <a:srgbClr val="003B70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C6E79E-EB99-40EC-ADAE-A452C909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B70"/>
                </a:solidFill>
              </a:defRPr>
            </a:pPr>
            <a:r>
              <a:rPr sz="2700" b="1">
                <a:solidFill>
                  <a:srgbClr val="003B70"/>
                </a:solidFill>
              </a:rPr>
              <a:t>Antes de usar fórmulas, decide el sentido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702DF-AD1E-4BFC-B257-4B260829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29C05-8198-4F5C-AAEC-969FC860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Mismo signo: las flechas de fuerza se alejan.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F7BDB-BB2E-4C4F-A3E7-95C2BC2C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Signos opuestos: las flechas se acercan.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05376-AFC5-4A29-9D94-CA4EDEE7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Las fuerzas son iguales en magnitud y opuestas en sentido.</a:t>
            </a:r>
          </a:p>
        </p:txBody>
      </p:sp>
    </p:spTree>
    <p:extLst>
      <p:ext uri="{BB962C8B-B14F-4D97-AF65-F5344CB8AC3E}">
        <p14:creationId xmlns:p14="http://schemas.microsoft.com/office/powerpoint/2010/main" val="12486036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2ACDF-BC36-45CC-91A7-77CFEA51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solidFill>
              <a:srgbClr val="00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605E2-AAC8-4E72-85FA-649996FB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3B70"/>
                </a:solidFill>
              </a:defRPr>
            </a:pPr>
            <a:r>
              <a:rPr sz="975" b="1">
                <a:solidFill>
                  <a:srgbClr val="003B70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71F67-EB29-40F0-BAAA-9C475837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B70"/>
                </a:solidFill>
              </a:defRPr>
            </a:pPr>
            <a:r>
              <a:rPr sz="2700" b="1">
                <a:solidFill>
                  <a:srgbClr val="003B70"/>
                </a:solidFill>
              </a:rPr>
              <a:t>Ley de Coulomb: cuánto vale la fuerza eléctrica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A6816-772E-489F-8859-8BDC1B96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939F1-3A48-428E-AC87-492D5933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58220"/>
                </a:solidFill>
              </a:defRPr>
            </a:pPr>
            <a:r>
              <a:rPr sz="3150" b="1">
                <a:solidFill>
                  <a:srgbClr val="F58220"/>
                </a:solidFill>
              </a:rPr>
              <a:t>F = k |q₁q₂| / r²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EFE2A-9C65-433B-BA4A-1DF09835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F en newton (N); q₁ y q₂ en coulomb (C); r en metros (m).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03B048-F784-4C5A-9A12-79F90219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86175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k = 8.99 × 10⁹ N·m²/C².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F91B23-18FF-4DF8-845D-6E212145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Es válida para cargas puntuales en reposo o casi en reposo.</a:t>
            </a:r>
          </a:p>
        </p:txBody>
      </p:sp>
    </p:spTree>
    <p:extLst>
      <p:ext uri="{BB962C8B-B14F-4D97-AF65-F5344CB8AC3E}">
        <p14:creationId xmlns:p14="http://schemas.microsoft.com/office/powerpoint/2010/main" val="2619958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47C6C-343E-4B05-9924-6D7C71BD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solidFill>
              <a:srgbClr val="00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DA27C-B08F-427C-82F5-B8A1AA8C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3B70"/>
                </a:solidFill>
              </a:defRPr>
            </a:pPr>
            <a:r>
              <a:rPr sz="975" b="1">
                <a:solidFill>
                  <a:srgbClr val="003B70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1A85C-EFFC-4911-88CA-C515ECD4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B70"/>
                </a:solidFill>
              </a:defRPr>
            </a:pPr>
            <a:r>
              <a:rPr sz="2700" b="1">
                <a:solidFill>
                  <a:srgbClr val="003B70"/>
                </a:solidFill>
              </a:rPr>
              <a:t>Un método que sirve para cada ejercicio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9B01D-B4EF-498A-9403-F5DB886A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BA09A-2E31-4270-B5E1-65C39749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1. Dibuja y predice la interacción.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46F8C-EB77-43FA-97DE-062ADF00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2. Escribe datos e incógnita; convierte al SI.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0DBFF-0B3B-456E-87B3-19361EE7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3. Selecciona la ecuación y sustituye con unidades.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D1E7D2-2619-4060-A504-B9C31B26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4. Revisa unidad, sentido y conclusión física.</a:t>
            </a:r>
          </a:p>
        </p:txBody>
      </p:sp>
    </p:spTree>
    <p:extLst>
      <p:ext uri="{BB962C8B-B14F-4D97-AF65-F5344CB8AC3E}">
        <p14:creationId xmlns:p14="http://schemas.microsoft.com/office/powerpoint/2010/main" val="7229887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DE6BC-691F-4ABB-B664-25437A1A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solidFill>
              <a:srgbClr val="00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5392CB-D2C2-4EA5-977B-9FCF17F9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3B70"/>
                </a:solidFill>
              </a:defRPr>
            </a:pPr>
            <a:r>
              <a:rPr sz="975" b="1">
                <a:solidFill>
                  <a:srgbClr val="003B70"/>
                </a:solidFill>
              </a:rPr>
              <a:t>Ejemplo 21.1 · sección 21.3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FB271-AA1C-43E6-AF4F-4B64A30C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B70"/>
                </a:solidFill>
              </a:defRPr>
            </a:pPr>
            <a:r>
              <a:rPr sz="2700" b="1">
                <a:solidFill>
                  <a:srgbClr val="003B70"/>
                </a:solidFill>
              </a:rPr>
              <a:t>Ejemplo para pizarra 1: fuerza entre dos cargas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3B1D9-47BB-421F-88C0-550E9814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04664-3260-4623-B19F-93B22CD3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Propósito: aplicar la Ley de Coulomb y relacionar signos con dirección.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AF86E-967E-435B-A462-AC1066D5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Antes de empezar: identifica q₁, q₂, r y predice atracción o repulsión.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D4C21-723C-4232-A9FA-834A5C3F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En pizarra: diagrama → datos SI → fórmula → sustitución → conclusión.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5224A-4CD8-42B2-9307-AAA1156F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La solución completa está en la Guía Docente; no se proyecta aquí.</a:t>
            </a:r>
          </a:p>
        </p:txBody>
      </p:sp>
    </p:spTree>
    <p:extLst>
      <p:ext uri="{BB962C8B-B14F-4D97-AF65-F5344CB8AC3E}">
        <p14:creationId xmlns:p14="http://schemas.microsoft.com/office/powerpoint/2010/main" val="8764170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445D9-2871-41CC-AA4E-526BD18D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solidFill>
              <a:srgbClr val="00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F2ED3-93A9-4016-A478-55DE02DB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3B70"/>
                </a:solidFill>
              </a:defRPr>
            </a:pPr>
            <a:r>
              <a:rPr sz="975" b="1">
                <a:solidFill>
                  <a:srgbClr val="003B70"/>
                </a:solidFill>
              </a:rPr>
              <a:t>Variación guiada por el docente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AE9E3-FE98-4E46-8479-444DB7CE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B70"/>
                </a:solidFill>
              </a:defRPr>
            </a:pPr>
            <a:r>
              <a:rPr sz="2700" b="1">
                <a:solidFill>
                  <a:srgbClr val="003B70"/>
                </a:solidFill>
              </a:rPr>
              <a:t>Ejemplo para pizarra 2: los signos determinan el sentido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3923B-9A90-4E23-8A03-8D7688FF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9A771-20A6-4FFB-9111-071924A8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923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8220"/>
                </a:solidFill>
              </a:defRPr>
            </a:pPr>
            <a:r>
              <a:rPr sz="2175" b="1">
                <a:solidFill>
                  <a:srgbClr val="F58220"/>
                </a:solidFill>
              </a:rPr>
              <a:t>q₁ = +2.0 μC       q₂ = −3.0 μC       r = 0.20 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6F7EE-8DD0-4A38-BA06-0EF5A487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¿Se atraen o se repelen? Dibuja las dos fuerzas antes de calcular.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A7A68-957B-42E4-978E-9D2A4A38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86175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¿Qué fuerza actúa sobre q₁? ¿Y sobre q₂?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D1B99F-C2B7-466F-9F6D-B310BEC8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En pizarra se calcula la magnitud; la clase explica el sentido.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9F4EA-9970-4912-957A-FBF0ED83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91125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25466"/>
                </a:solidFill>
              </a:defRPr>
            </a:pPr>
            <a:r>
              <a:rPr sz="1500" b="1">
                <a:solidFill>
                  <a:srgbClr val="425466"/>
                </a:solidFill>
              </a:rPr>
              <a:t>Resultado para comprobar al final: 1.35 N, interacción atractiva.</a:t>
            </a:r>
          </a:p>
        </p:txBody>
      </p:sp>
    </p:spTree>
    <p:extLst>
      <p:ext uri="{BB962C8B-B14F-4D97-AF65-F5344CB8AC3E}">
        <p14:creationId xmlns:p14="http://schemas.microsoft.com/office/powerpoint/2010/main" val="17633947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90CF1-C498-407A-BB9A-CDAB049A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solidFill>
              <a:srgbClr val="00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9C48B-9555-4153-A20A-452CD367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3B70"/>
                </a:solidFill>
              </a:defRPr>
            </a:pPr>
            <a:r>
              <a:rPr sz="975" b="1">
                <a:solidFill>
                  <a:srgbClr val="003B70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07B91-B71F-48A8-96F5-4B2E55E9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B70"/>
                </a:solidFill>
              </a:defRPr>
            </a:pPr>
            <a:r>
              <a:rPr sz="2700" b="1">
                <a:solidFill>
                  <a:srgbClr val="003B70"/>
                </a:solidFill>
              </a:rPr>
              <a:t>El campo eléctrico explica la acción a distancia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F539A-EB0C-4F03-B194-B6FB900B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ED971-0533-4293-89B8-DC05495D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Una carga fuente modifica el espacio a su alrededor.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D5E94-427F-44E5-880E-8A260DCB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E = F / q₀: campo es fuerza por unidad de carga de prueba.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E362D-9721-4836-8D38-0944EFB7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El campo existe aunque todavía no coloquemos otra carga.</a:t>
            </a:r>
          </a:p>
        </p:txBody>
      </p:sp>
    </p:spTree>
    <p:extLst>
      <p:ext uri="{BB962C8B-B14F-4D97-AF65-F5344CB8AC3E}">
        <p14:creationId xmlns:p14="http://schemas.microsoft.com/office/powerpoint/2010/main" val="1218579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E9D12E-7959-49F0-8140-88AFC0D1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solidFill>
              <a:srgbClr val="00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1FB7E-BF7B-48EE-A404-3A832AA8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3B70"/>
                </a:solidFill>
              </a:defRPr>
            </a:pPr>
            <a:r>
              <a:rPr sz="975" b="1">
                <a:solidFill>
                  <a:srgbClr val="003B70"/>
                </a:solidFill>
              </a:rPr>
              <a:t>Ejemplo 21.5 · sección 21.4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64196-FB9A-4F02-9826-B0EBBB17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B70"/>
                </a:solidFill>
              </a:defRPr>
            </a:pPr>
            <a:r>
              <a:rPr sz="2700" b="1">
                <a:solidFill>
                  <a:srgbClr val="003B70"/>
                </a:solidFill>
              </a:rPr>
              <a:t>Ejemplo para pizarra 3: campo de una carga puntual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CD8B8-C37A-410C-9A08-C6473DAB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89D3F-5E86-4CD4-ACE9-D6EA4C80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58220"/>
                </a:solidFill>
              </a:defRPr>
            </a:pPr>
            <a:r>
              <a:rPr sz="3150" b="1">
                <a:solidFill>
                  <a:srgbClr val="F58220"/>
                </a:solidFill>
              </a:rPr>
              <a:t>E = k |Q| / r²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73700-82E0-4730-92B5-3026CFE0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Propósito: distinguir carga fuente Q, punto P y carga de prueba q₀.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5B186-D7AC-4B2E-BC2C-B0A6A7B7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86175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Antes de calcular: dibuja Q, P, r y la dirección de 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C9877-4AC0-4E5E-9E80-2F28ADE9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En pizarra: datos SI → cálculo de E → unidad N/C → interpretación.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2B90C5-C2C3-41E6-9142-94EF842F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72025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Si Q es positiva, E se aleja; si Q es negativa, E apunta hacia Q.</a:t>
            </a:r>
          </a:p>
        </p:txBody>
      </p:sp>
    </p:spTree>
    <p:extLst>
      <p:ext uri="{BB962C8B-B14F-4D97-AF65-F5344CB8AC3E}">
        <p14:creationId xmlns:p14="http://schemas.microsoft.com/office/powerpoint/2010/main" val="10379790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896BCA-ABB5-47F4-AD6A-C975F81F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solidFill>
              <a:srgbClr val="00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5828F-9540-42F9-A171-CAF71669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3B70"/>
                </a:solidFill>
              </a:defRPr>
            </a:pPr>
            <a:r>
              <a:rPr sz="975" b="1">
                <a:solidFill>
                  <a:srgbClr val="003B70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3A0F8-8217-4647-A4D4-DC5F2F8E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B70"/>
                </a:solidFill>
              </a:defRPr>
            </a:pPr>
            <a:r>
              <a:rPr sz="2700" b="1">
                <a:solidFill>
                  <a:srgbClr val="003B70"/>
                </a:solidFill>
              </a:rPr>
              <a:t>Las líneas de campo ayudan a leer dirección e intensidad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4F6F5-C645-4B49-82BD-4C6295C7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53F8F-629F-4A67-8C29-1D4232F5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Salen de cargas positivas y terminan en cargas negativas.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22A54-B2F2-4006-99B0-2CAF71F7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La flecha indica el sentido de 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AB06A-3986-482E-9B11-9DED5A65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Líneas más juntas indican campo más intenso.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502CCD-3606-43B2-AAD2-91B6D05D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Las líneas no se cruzan.</a:t>
            </a:r>
          </a:p>
        </p:txBody>
      </p:sp>
    </p:spTree>
    <p:extLst>
      <p:ext uri="{BB962C8B-B14F-4D97-AF65-F5344CB8AC3E}">
        <p14:creationId xmlns:p14="http://schemas.microsoft.com/office/powerpoint/2010/main" val="5001334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29018-355D-40C8-A134-85A7BA5E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solidFill>
              <a:srgbClr val="00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925B0-8E99-481C-83FB-14D8A6A8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3B70"/>
                </a:solidFill>
              </a:defRPr>
            </a:pPr>
            <a:r>
              <a:rPr sz="975" b="1">
                <a:solidFill>
                  <a:srgbClr val="003B70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E50B7-C804-4E60-99EB-11AEEB49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B70"/>
                </a:solidFill>
              </a:defRPr>
            </a:pPr>
            <a:r>
              <a:rPr sz="2700" b="1">
                <a:solidFill>
                  <a:srgbClr val="003B70"/>
                </a:solidFill>
              </a:rPr>
              <a:t>Resumen y verificación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51DC3-CC55-40F6-92FC-7E943D17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67429-28BB-49F7-930E-5B145C4D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Las cargas interactúan mediante fuerza eléctrica.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153A5-B959-4FC2-A8F2-72143D36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Coulomb permite calcular esa fuerza.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B671E-923A-4238-BBC8-2094753A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El campo eléctrico describe la influencia de una carga.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22EE08-31A8-48C6-B691-15CEC316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971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8220"/>
                </a:solidFill>
              </a:defRPr>
            </a:pPr>
            <a:r>
              <a:rPr sz="1800" b="1">
                <a:solidFill>
                  <a:srgbClr val="F58220"/>
                </a:solidFill>
              </a:rPr>
              <a:t>Pregunta de salida: ¿qué ocurre con la fuerza si la distancia se duplica?</a:t>
            </a:r>
          </a:p>
        </p:txBody>
      </p:sp>
    </p:spTree>
    <p:extLst>
      <p:ext uri="{BB962C8B-B14F-4D97-AF65-F5344CB8AC3E}">
        <p14:creationId xmlns:p14="http://schemas.microsoft.com/office/powerpoint/2010/main" val="4178430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A4515-AAC7-48C7-ADF2-E7DFF50A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solidFill>
              <a:srgbClr val="00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6C828-3505-406E-AA82-CB6747D9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3B70"/>
                </a:solidFill>
              </a:defRPr>
            </a:pPr>
            <a:r>
              <a:rPr sz="975" b="1">
                <a:solidFill>
                  <a:srgbClr val="003B70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33433-D30D-4855-B97E-8863D6A8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B70"/>
                </a:solidFill>
              </a:defRPr>
            </a:pPr>
            <a:r>
              <a:rPr sz="2700" b="1">
                <a:solidFill>
                  <a:srgbClr val="003B70"/>
                </a:solidFill>
              </a:rPr>
              <a:t>Tarea: demostrar el procedimiento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BD48B-A340-4803-B869-1F5ED71C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E7DED-A67E-4363-BA7A-B39B3E3F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Conceptuales: P21.1, P21.2 y P21.3.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99C6F-D280-4369-804B-A416F0CD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Ley de Coulomb: 21.6 y 21.12.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54A9E-1908-4F67-BC31-C5B2E456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Campo eléctrico: 21.25 y 21.30.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3D541-E699-4714-87E7-63A16F35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D"/>
                </a:solidFill>
              </a:defRPr>
            </a:pPr>
            <a:r>
              <a:rPr sz="1725" b="0">
                <a:solidFill>
                  <a:srgbClr val="172B4D"/>
                </a:solidFill>
              </a:rPr>
              <a:t>•  Entregar: diagrama, datos SI, procedimiento, unidad y conclusión física.</a:t>
            </a:r>
          </a:p>
        </p:txBody>
      </p:sp>
    </p:spTree>
    <p:extLst>
      <p:ext uri="{BB962C8B-B14F-4D97-AF65-F5344CB8AC3E}">
        <p14:creationId xmlns:p14="http://schemas.microsoft.com/office/powerpoint/2010/main" val="11678324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2026-08-29T00:56:07.4590000Z</dcterms:created>
  <dcterms:modified xsi:type="dcterms:W3CDTF">2026-08-29T00:56:07.4590000Z</dcterms:modified>
</coreProperties>
</file>